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embeddedFontLst>
    <p:embeddedFont>
      <p:font typeface="Raleway"/>
      <p:regular r:id="rId21"/>
      <p:bold r:id="rId22"/>
      <p:italic r:id="rId23"/>
      <p:boldItalic r:id="rId24"/>
    </p:embeddedFont>
    <p:embeddedFont>
      <p:font typeface="Raleway SemiBold"/>
      <p:regular r:id="rId25"/>
      <p:bold r:id="rId26"/>
      <p:italic r:id="rId27"/>
      <p:boldItalic r:id="rId28"/>
    </p:embeddedFont>
    <p:embeddedFont>
      <p:font typeface="Hanken Grotesk"/>
      <p:regular r:id="rId29"/>
      <p:bold r:id="rId30"/>
      <p:italic r:id="rId31"/>
      <p:boldItalic r:id="rId32"/>
    </p:embeddedFont>
    <p:embeddedFont>
      <p:font typeface="Darker Grotesque"/>
      <p:regular r:id="rId33"/>
      <p:bold r:id="rId34"/>
    </p:embeddedFont>
    <p:embeddedFont>
      <p:font typeface="Be Vietnam Pro Light"/>
      <p:regular r:id="rId35"/>
      <p:bold r:id="rId36"/>
      <p:italic r:id="rId37"/>
      <p:boldItalic r:id="rId38"/>
    </p:embeddedFont>
    <p:embeddedFont>
      <p:font typeface="Be Vietnam Pro"/>
      <p:regular r:id="rId39"/>
      <p:bold r:id="rId40"/>
      <p:italic r:id="rId41"/>
      <p:boldItalic r:id="rId4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14AAFB3-9E27-4CA5-A827-3116D881A895}">
  <a:tblStyle styleId="{D14AAFB3-9E27-4CA5-A827-3116D881A89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BeVietnamPro-bold.fntdata"/><Relationship Id="rId20" Type="http://schemas.openxmlformats.org/officeDocument/2006/relationships/slide" Target="slides/slide15.xml"/><Relationship Id="rId42" Type="http://schemas.openxmlformats.org/officeDocument/2006/relationships/font" Target="fonts/BeVietnamPro-boldItalic.fntdata"/><Relationship Id="rId41" Type="http://schemas.openxmlformats.org/officeDocument/2006/relationships/font" Target="fonts/BeVietnamPro-italic.fntdata"/><Relationship Id="rId22" Type="http://schemas.openxmlformats.org/officeDocument/2006/relationships/font" Target="fonts/Raleway-bold.fntdata"/><Relationship Id="rId21" Type="http://schemas.openxmlformats.org/officeDocument/2006/relationships/font" Target="fonts/Raleway-regular.fntdata"/><Relationship Id="rId24" Type="http://schemas.openxmlformats.org/officeDocument/2006/relationships/font" Target="fonts/Raleway-boldItalic.fntdata"/><Relationship Id="rId23" Type="http://schemas.openxmlformats.org/officeDocument/2006/relationships/font" Target="fonts/Raleway-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alewaySemiBold-bold.fntdata"/><Relationship Id="rId25" Type="http://schemas.openxmlformats.org/officeDocument/2006/relationships/font" Target="fonts/RalewaySemiBold-regular.fntdata"/><Relationship Id="rId28" Type="http://schemas.openxmlformats.org/officeDocument/2006/relationships/font" Target="fonts/RalewaySemiBold-boldItalic.fntdata"/><Relationship Id="rId27" Type="http://schemas.openxmlformats.org/officeDocument/2006/relationships/font" Target="fonts/RalewaySemiBold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HankenGrotesk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HankenGrotesk-italic.fntdata"/><Relationship Id="rId30" Type="http://schemas.openxmlformats.org/officeDocument/2006/relationships/font" Target="fonts/HankenGrotesk-bold.fntdata"/><Relationship Id="rId11" Type="http://schemas.openxmlformats.org/officeDocument/2006/relationships/slide" Target="slides/slide6.xml"/><Relationship Id="rId33" Type="http://schemas.openxmlformats.org/officeDocument/2006/relationships/font" Target="fonts/DarkerGrotesque-regular.fntdata"/><Relationship Id="rId10" Type="http://schemas.openxmlformats.org/officeDocument/2006/relationships/slide" Target="slides/slide5.xml"/><Relationship Id="rId32" Type="http://schemas.openxmlformats.org/officeDocument/2006/relationships/font" Target="fonts/HankenGrotesk-boldItalic.fntdata"/><Relationship Id="rId13" Type="http://schemas.openxmlformats.org/officeDocument/2006/relationships/slide" Target="slides/slide8.xml"/><Relationship Id="rId35" Type="http://schemas.openxmlformats.org/officeDocument/2006/relationships/font" Target="fonts/BeVietnamProLight-regular.fntdata"/><Relationship Id="rId12" Type="http://schemas.openxmlformats.org/officeDocument/2006/relationships/slide" Target="slides/slide7.xml"/><Relationship Id="rId34" Type="http://schemas.openxmlformats.org/officeDocument/2006/relationships/font" Target="fonts/DarkerGrotesque-bold.fntdata"/><Relationship Id="rId15" Type="http://schemas.openxmlformats.org/officeDocument/2006/relationships/slide" Target="slides/slide10.xml"/><Relationship Id="rId37" Type="http://schemas.openxmlformats.org/officeDocument/2006/relationships/font" Target="fonts/BeVietnamProLight-italic.fntdata"/><Relationship Id="rId14" Type="http://schemas.openxmlformats.org/officeDocument/2006/relationships/slide" Target="slides/slide9.xml"/><Relationship Id="rId36" Type="http://schemas.openxmlformats.org/officeDocument/2006/relationships/font" Target="fonts/BeVietnamProLight-bold.fntdata"/><Relationship Id="rId17" Type="http://schemas.openxmlformats.org/officeDocument/2006/relationships/slide" Target="slides/slide12.xml"/><Relationship Id="rId39" Type="http://schemas.openxmlformats.org/officeDocument/2006/relationships/font" Target="fonts/BeVietnamPro-regular.fntdata"/><Relationship Id="rId16" Type="http://schemas.openxmlformats.org/officeDocument/2006/relationships/slide" Target="slides/slide11.xml"/><Relationship Id="rId38" Type="http://schemas.openxmlformats.org/officeDocument/2006/relationships/font" Target="fonts/BeVietnamProLight-bold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90e68a271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90e68a271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a3076a8b46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a3076a8b46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54dda1946d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54dda1946d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54dda1946d_6_3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54dda1946d_6_3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d431007ba2_0_2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d431007ba2_0_2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54dda1946d_6_3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54dda1946d_6_3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54dda1946d_6_3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54dda1946d_6_3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54dda1946d_6_3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54dda1946d_6_3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d5260bdd85_0_2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d5260bdd85_0_2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54dda1946d_4_27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54dda1946d_4_27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54dda1946d_4_27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54dda1946d_4_27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d5260bdd85_0_2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d5260bdd85_0_2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54dda1946d_4_27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54dda1946d_4_27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b23ed3e3ed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3b23ed3e3ed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135e18421cc_13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135e18421cc_13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tBDfr" TargetMode="Externa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874600" y="-94200"/>
            <a:ext cx="8682900" cy="5331900"/>
            <a:chOff x="-874600" y="-94200"/>
            <a:chExt cx="8682900" cy="5331900"/>
          </a:xfrm>
        </p:grpSpPr>
        <p:cxnSp>
          <p:nvCxnSpPr>
            <p:cNvPr id="10" name="Google Shape;10;p2"/>
            <p:cNvCxnSpPr/>
            <p:nvPr/>
          </p:nvCxnSpPr>
          <p:spPr>
            <a:xfrm>
              <a:off x="7808300" y="-94200"/>
              <a:ext cx="0" cy="5331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" name="Google Shape;11;p2"/>
            <p:cNvCxnSpPr/>
            <p:nvPr/>
          </p:nvCxnSpPr>
          <p:spPr>
            <a:xfrm>
              <a:off x="-874600" y="845525"/>
              <a:ext cx="8682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2" name="Google Shape;12;p2"/>
          <p:cNvSpPr txBox="1"/>
          <p:nvPr>
            <p:ph type="ctrTitle"/>
          </p:nvPr>
        </p:nvSpPr>
        <p:spPr>
          <a:xfrm flipH="1">
            <a:off x="228600" y="1791600"/>
            <a:ext cx="4054800" cy="240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7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 flipH="1">
            <a:off x="228500" y="4195500"/>
            <a:ext cx="2861100" cy="7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6045300" y="3403500"/>
            <a:ext cx="2870100" cy="15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3"/>
          <p:cNvSpPr txBox="1"/>
          <p:nvPr>
            <p:ph hasCustomPrompt="1" idx="2" type="title"/>
          </p:nvPr>
        </p:nvSpPr>
        <p:spPr>
          <a:xfrm>
            <a:off x="1647825" y="1218875"/>
            <a:ext cx="1652100" cy="915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b="0"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grpSp>
        <p:nvGrpSpPr>
          <p:cNvPr id="17" name="Google Shape;17;p3"/>
          <p:cNvGrpSpPr/>
          <p:nvPr/>
        </p:nvGrpSpPr>
        <p:grpSpPr>
          <a:xfrm>
            <a:off x="1335700" y="-94200"/>
            <a:ext cx="8682900" cy="5331900"/>
            <a:chOff x="1335700" y="-94200"/>
            <a:chExt cx="8682900" cy="5331900"/>
          </a:xfrm>
        </p:grpSpPr>
        <p:cxnSp>
          <p:nvCxnSpPr>
            <p:cNvPr id="18" name="Google Shape;18;p3"/>
            <p:cNvCxnSpPr/>
            <p:nvPr/>
          </p:nvCxnSpPr>
          <p:spPr>
            <a:xfrm>
              <a:off x="1335700" y="-94200"/>
              <a:ext cx="0" cy="5331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" name="Google Shape;19;p3"/>
            <p:cNvCxnSpPr/>
            <p:nvPr/>
          </p:nvCxnSpPr>
          <p:spPr>
            <a:xfrm rot="10800000">
              <a:off x="1335700" y="845525"/>
              <a:ext cx="8682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accent1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title"/>
          </p:nvPr>
        </p:nvSpPr>
        <p:spPr>
          <a:xfrm>
            <a:off x="228600" y="2286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228600" y="999327"/>
            <a:ext cx="7704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unito Light"/>
              <a:buChar char="●"/>
              <a:defRPr>
                <a:solidFill>
                  <a:schemeClr val="lt1"/>
                </a:solidFill>
              </a:defRPr>
            </a:lvl1pPr>
            <a:lvl2pPr indent="-3048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unito Light"/>
              <a:buChar char="○"/>
              <a:defRPr>
                <a:solidFill>
                  <a:schemeClr val="lt1"/>
                </a:solidFill>
              </a:defRPr>
            </a:lvl2pPr>
            <a:lvl3pPr indent="-3048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unito Light"/>
              <a:buChar char="■"/>
              <a:defRPr>
                <a:solidFill>
                  <a:schemeClr val="lt1"/>
                </a:solidFill>
              </a:defRPr>
            </a:lvl3pPr>
            <a:lvl4pPr indent="-3048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unito Light"/>
              <a:buChar char="●"/>
              <a:defRPr>
                <a:solidFill>
                  <a:schemeClr val="lt1"/>
                </a:solidFill>
              </a:defRPr>
            </a:lvl4pPr>
            <a:lvl5pPr indent="-3048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unito Light"/>
              <a:buChar char="○"/>
              <a:defRPr>
                <a:solidFill>
                  <a:schemeClr val="lt1"/>
                </a:solidFill>
              </a:defRPr>
            </a:lvl5pPr>
            <a:lvl6pPr indent="-3048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unito Light"/>
              <a:buChar char="■"/>
              <a:defRPr>
                <a:solidFill>
                  <a:schemeClr val="lt1"/>
                </a:solidFill>
              </a:defRPr>
            </a:lvl6pPr>
            <a:lvl7pPr indent="-3048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unito Light"/>
              <a:buChar char="●"/>
              <a:defRPr>
                <a:solidFill>
                  <a:schemeClr val="lt1"/>
                </a:solidFill>
              </a:defRPr>
            </a:lvl7pPr>
            <a:lvl8pPr indent="-3048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unito Light"/>
              <a:buChar char="○"/>
              <a:defRPr>
                <a:solidFill>
                  <a:schemeClr val="lt1"/>
                </a:solidFill>
              </a:defRPr>
            </a:lvl8pPr>
            <a:lvl9pPr indent="-3048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unito Light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oogle Shape;24;p5"/>
          <p:cNvGrpSpPr/>
          <p:nvPr/>
        </p:nvGrpSpPr>
        <p:grpSpPr>
          <a:xfrm>
            <a:off x="602839" y="-94200"/>
            <a:ext cx="8844936" cy="5331900"/>
            <a:chOff x="602839" y="-94200"/>
            <a:chExt cx="8844936" cy="5331900"/>
          </a:xfrm>
        </p:grpSpPr>
        <p:cxnSp>
          <p:nvCxnSpPr>
            <p:cNvPr id="25" name="Google Shape;25;p5"/>
            <p:cNvCxnSpPr/>
            <p:nvPr/>
          </p:nvCxnSpPr>
          <p:spPr>
            <a:xfrm>
              <a:off x="602839" y="-94200"/>
              <a:ext cx="0" cy="5331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6" name="Google Shape;26;p5"/>
            <p:cNvCxnSpPr/>
            <p:nvPr/>
          </p:nvCxnSpPr>
          <p:spPr>
            <a:xfrm rot="10800000">
              <a:off x="604975" y="616925"/>
              <a:ext cx="88428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7" name="Google Shape;27;p5"/>
          <p:cNvSpPr txBox="1"/>
          <p:nvPr>
            <p:ph type="title"/>
          </p:nvPr>
        </p:nvSpPr>
        <p:spPr>
          <a:xfrm>
            <a:off x="1028600" y="845525"/>
            <a:ext cx="6066300" cy="15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subTitle"/>
          </p:nvPr>
        </p:nvSpPr>
        <p:spPr>
          <a:xfrm>
            <a:off x="1028605" y="3105291"/>
            <a:ext cx="2112300" cy="18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9" name="Google Shape;29;p5"/>
          <p:cNvSpPr txBox="1"/>
          <p:nvPr>
            <p:ph idx="2" type="subTitle"/>
          </p:nvPr>
        </p:nvSpPr>
        <p:spPr>
          <a:xfrm>
            <a:off x="1028600" y="2434925"/>
            <a:ext cx="2112300" cy="72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2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3" type="subTitle"/>
          </p:nvPr>
        </p:nvSpPr>
        <p:spPr>
          <a:xfrm>
            <a:off x="3580250" y="3105280"/>
            <a:ext cx="2112300" cy="18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31" name="Google Shape;31;p5"/>
          <p:cNvSpPr txBox="1"/>
          <p:nvPr>
            <p:ph idx="4" type="subTitle"/>
          </p:nvPr>
        </p:nvSpPr>
        <p:spPr>
          <a:xfrm>
            <a:off x="3589225" y="2434925"/>
            <a:ext cx="2112300" cy="72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2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accent3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oogle Shape;33;p6"/>
          <p:cNvGrpSpPr/>
          <p:nvPr/>
        </p:nvGrpSpPr>
        <p:grpSpPr>
          <a:xfrm flipH="1">
            <a:off x="-104750" y="-94200"/>
            <a:ext cx="9020150" cy="5331900"/>
            <a:chOff x="602839" y="-94200"/>
            <a:chExt cx="9020150" cy="5331900"/>
          </a:xfrm>
        </p:grpSpPr>
        <p:cxnSp>
          <p:nvCxnSpPr>
            <p:cNvPr id="34" name="Google Shape;34;p6"/>
            <p:cNvCxnSpPr/>
            <p:nvPr/>
          </p:nvCxnSpPr>
          <p:spPr>
            <a:xfrm>
              <a:off x="602839" y="-94200"/>
              <a:ext cx="0" cy="5331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" name="Google Shape;35;p6"/>
            <p:cNvCxnSpPr/>
            <p:nvPr/>
          </p:nvCxnSpPr>
          <p:spPr>
            <a:xfrm rot="10800000">
              <a:off x="604989" y="224144"/>
              <a:ext cx="90180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6" name="Google Shape;36;p6"/>
          <p:cNvSpPr txBox="1"/>
          <p:nvPr>
            <p:ph type="title"/>
          </p:nvPr>
        </p:nvSpPr>
        <p:spPr>
          <a:xfrm>
            <a:off x="228600" y="228600"/>
            <a:ext cx="8686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chemeClr val="accent1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 txBox="1"/>
          <p:nvPr>
            <p:ph type="title"/>
          </p:nvPr>
        </p:nvSpPr>
        <p:spPr>
          <a:xfrm>
            <a:off x="720000" y="445019"/>
            <a:ext cx="4763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" name="Google Shape;39;p7"/>
          <p:cNvSpPr txBox="1"/>
          <p:nvPr>
            <p:ph idx="1" type="subTitle"/>
          </p:nvPr>
        </p:nvSpPr>
        <p:spPr>
          <a:xfrm>
            <a:off x="713225" y="1790975"/>
            <a:ext cx="4294800" cy="19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Open Sans Light"/>
              <a:buChar char="●"/>
              <a:defRPr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unito Light"/>
              <a:buChar char="○"/>
              <a:defRPr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Light"/>
              <a:buChar char="■"/>
              <a:defRPr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Light"/>
              <a:buChar char="●"/>
              <a:defRPr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unito Light"/>
              <a:buChar char="○"/>
              <a:defRPr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unito Light"/>
              <a:buChar char="■"/>
              <a:defRPr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Nunito Light"/>
              <a:buChar char="●"/>
              <a:defRPr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Nunito Light"/>
              <a:buChar char="○"/>
              <a:defRPr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unito Light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 txBox="1"/>
          <p:nvPr>
            <p:ph type="title"/>
          </p:nvPr>
        </p:nvSpPr>
        <p:spPr>
          <a:xfrm>
            <a:off x="1768550" y="1307100"/>
            <a:ext cx="5607000" cy="252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accent3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 txBox="1"/>
          <p:nvPr>
            <p:ph type="title"/>
          </p:nvPr>
        </p:nvSpPr>
        <p:spPr>
          <a:xfrm>
            <a:off x="2135550" y="1441675"/>
            <a:ext cx="4872900" cy="118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4" name="Google Shape;44;p9"/>
          <p:cNvSpPr txBox="1"/>
          <p:nvPr>
            <p:ph idx="1" type="subTitle"/>
          </p:nvPr>
        </p:nvSpPr>
        <p:spPr>
          <a:xfrm>
            <a:off x="2135550" y="2784625"/>
            <a:ext cx="4872900" cy="67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47" name="Google Shape;47;p10"/>
          <p:cNvSpPr txBox="1"/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accent1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  <a:defRPr sz="25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11"/>
          <p:cNvGrpSpPr/>
          <p:nvPr/>
        </p:nvGrpSpPr>
        <p:grpSpPr>
          <a:xfrm>
            <a:off x="1341114" y="-94200"/>
            <a:ext cx="8682900" cy="5331900"/>
            <a:chOff x="1341114" y="-94200"/>
            <a:chExt cx="8682900" cy="5331900"/>
          </a:xfrm>
        </p:grpSpPr>
        <p:cxnSp>
          <p:nvCxnSpPr>
            <p:cNvPr id="50" name="Google Shape;50;p11"/>
            <p:cNvCxnSpPr/>
            <p:nvPr/>
          </p:nvCxnSpPr>
          <p:spPr>
            <a:xfrm>
              <a:off x="1341114" y="-94200"/>
              <a:ext cx="0" cy="5331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" name="Google Shape;51;p11"/>
            <p:cNvCxnSpPr/>
            <p:nvPr/>
          </p:nvCxnSpPr>
          <p:spPr>
            <a:xfrm rot="10800000">
              <a:off x="1341114" y="845525"/>
              <a:ext cx="8682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52" name="Google Shape;52;p11"/>
          <p:cNvSpPr txBox="1"/>
          <p:nvPr>
            <p:ph hasCustomPrompt="1" type="title"/>
          </p:nvPr>
        </p:nvSpPr>
        <p:spPr>
          <a:xfrm>
            <a:off x="1720025" y="2111875"/>
            <a:ext cx="5448000" cy="75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200"/>
              <a:buNone/>
              <a:defRPr b="0" sz="4500"/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53" name="Google Shape;53;p11"/>
          <p:cNvSpPr txBox="1"/>
          <p:nvPr>
            <p:ph idx="1" type="subTitle"/>
          </p:nvPr>
        </p:nvSpPr>
        <p:spPr>
          <a:xfrm>
            <a:off x="1720025" y="2790482"/>
            <a:ext cx="5448000" cy="448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4" name="Google Shape;54;p11"/>
          <p:cNvSpPr txBox="1"/>
          <p:nvPr>
            <p:ph hasCustomPrompt="1" idx="2" type="title"/>
          </p:nvPr>
        </p:nvSpPr>
        <p:spPr>
          <a:xfrm>
            <a:off x="1720025" y="3598829"/>
            <a:ext cx="5448000" cy="75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200"/>
              <a:buNone/>
              <a:defRPr b="0" sz="4500"/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/>
          <p:nvPr>
            <p:ph idx="3" type="subTitle"/>
          </p:nvPr>
        </p:nvSpPr>
        <p:spPr>
          <a:xfrm>
            <a:off x="1720025" y="4277393"/>
            <a:ext cx="5448000" cy="448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4" type="title"/>
          </p:nvPr>
        </p:nvSpPr>
        <p:spPr>
          <a:xfrm>
            <a:off x="1720025" y="1318700"/>
            <a:ext cx="6919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bg>
      <p:bgPr>
        <a:solidFill>
          <a:schemeClr val="accent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Google Shape;59;p13"/>
          <p:cNvGrpSpPr/>
          <p:nvPr/>
        </p:nvGrpSpPr>
        <p:grpSpPr>
          <a:xfrm>
            <a:off x="1341114" y="-94200"/>
            <a:ext cx="8682900" cy="5331900"/>
            <a:chOff x="1341114" y="-94200"/>
            <a:chExt cx="8682900" cy="5331900"/>
          </a:xfrm>
        </p:grpSpPr>
        <p:cxnSp>
          <p:nvCxnSpPr>
            <p:cNvPr id="60" name="Google Shape;60;p13"/>
            <p:cNvCxnSpPr/>
            <p:nvPr/>
          </p:nvCxnSpPr>
          <p:spPr>
            <a:xfrm>
              <a:off x="1341114" y="-94200"/>
              <a:ext cx="0" cy="53319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1" name="Google Shape;61;p13"/>
            <p:cNvCxnSpPr/>
            <p:nvPr/>
          </p:nvCxnSpPr>
          <p:spPr>
            <a:xfrm rot="10800000">
              <a:off x="1341114" y="845525"/>
              <a:ext cx="8682900" cy="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62" name="Google Shape;62;p13"/>
          <p:cNvSpPr txBox="1"/>
          <p:nvPr>
            <p:ph type="title"/>
          </p:nvPr>
        </p:nvSpPr>
        <p:spPr>
          <a:xfrm>
            <a:off x="1832500" y="1043225"/>
            <a:ext cx="2598300" cy="9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3" name="Google Shape;63;p13"/>
          <p:cNvSpPr txBox="1"/>
          <p:nvPr>
            <p:ph idx="1" type="subTitle"/>
          </p:nvPr>
        </p:nvSpPr>
        <p:spPr>
          <a:xfrm>
            <a:off x="3696400" y="2436875"/>
            <a:ext cx="1878300" cy="539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arker Grotesque"/>
              <a:buNone/>
              <a:defRPr sz="1800"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arker Grotesque"/>
              <a:buNone/>
              <a:defRPr b="1"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arker Grotesque"/>
              <a:buNone/>
              <a:defRPr b="1"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arker Grotesque"/>
              <a:buNone/>
              <a:defRPr b="1"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arker Grotesque"/>
              <a:buNone/>
              <a:defRPr b="1"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arker Grotesque"/>
              <a:buNone/>
              <a:defRPr b="1"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arker Grotesque"/>
              <a:buNone/>
              <a:defRPr b="1"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arker Grotesque"/>
              <a:buNone/>
              <a:defRPr b="1"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arker Grotesque"/>
              <a:buNone/>
              <a:defRPr b="1"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9pPr>
          </a:lstStyle>
          <a:p/>
        </p:txBody>
      </p:sp>
      <p:sp>
        <p:nvSpPr>
          <p:cNvPr id="64" name="Google Shape;64;p13"/>
          <p:cNvSpPr txBox="1"/>
          <p:nvPr>
            <p:ph idx="2" type="subTitle"/>
          </p:nvPr>
        </p:nvSpPr>
        <p:spPr>
          <a:xfrm>
            <a:off x="3696400" y="3083085"/>
            <a:ext cx="1878300" cy="539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arker Grotesque"/>
              <a:buNone/>
              <a:defRPr sz="1800"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arker Grotesque"/>
              <a:buNone/>
              <a:defRPr b="1"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arker Grotesque"/>
              <a:buNone/>
              <a:defRPr b="1"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arker Grotesque"/>
              <a:buNone/>
              <a:defRPr b="1"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arker Grotesque"/>
              <a:buNone/>
              <a:defRPr b="1"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arker Grotesque"/>
              <a:buNone/>
              <a:defRPr b="1"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arker Grotesque"/>
              <a:buNone/>
              <a:defRPr b="1"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arker Grotesque"/>
              <a:buNone/>
              <a:defRPr b="1"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arker Grotesque"/>
              <a:buNone/>
              <a:defRPr b="1"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9pPr>
          </a:lstStyle>
          <a:p/>
        </p:txBody>
      </p:sp>
      <p:sp>
        <p:nvSpPr>
          <p:cNvPr id="65" name="Google Shape;65;p13"/>
          <p:cNvSpPr txBox="1"/>
          <p:nvPr>
            <p:ph idx="3" type="subTitle"/>
          </p:nvPr>
        </p:nvSpPr>
        <p:spPr>
          <a:xfrm>
            <a:off x="3696400" y="3729292"/>
            <a:ext cx="1878300" cy="539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arker Grotesque"/>
              <a:buNone/>
              <a:defRPr sz="1800"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arker Grotesque"/>
              <a:buNone/>
              <a:defRPr b="1"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arker Grotesque"/>
              <a:buNone/>
              <a:defRPr b="1"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arker Grotesque"/>
              <a:buNone/>
              <a:defRPr b="1"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arker Grotesque"/>
              <a:buNone/>
              <a:defRPr b="1"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arker Grotesque"/>
              <a:buNone/>
              <a:defRPr b="1"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arker Grotesque"/>
              <a:buNone/>
              <a:defRPr b="1"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arker Grotesque"/>
              <a:buNone/>
              <a:defRPr b="1"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arker Grotesque"/>
              <a:buNone/>
              <a:defRPr b="1"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9pPr>
          </a:lstStyle>
          <a:p/>
        </p:txBody>
      </p:sp>
      <p:sp>
        <p:nvSpPr>
          <p:cNvPr id="66" name="Google Shape;66;p13"/>
          <p:cNvSpPr txBox="1"/>
          <p:nvPr>
            <p:ph idx="4" type="subTitle"/>
          </p:nvPr>
        </p:nvSpPr>
        <p:spPr>
          <a:xfrm>
            <a:off x="3696400" y="4375500"/>
            <a:ext cx="1878300" cy="539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arker Grotesque"/>
              <a:buNone/>
              <a:defRPr sz="1800"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arker Grotesque"/>
              <a:buNone/>
              <a:defRPr b="1"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arker Grotesque"/>
              <a:buNone/>
              <a:defRPr b="1"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arker Grotesque"/>
              <a:buNone/>
              <a:defRPr b="1"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arker Grotesque"/>
              <a:buNone/>
              <a:defRPr b="1"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arker Grotesque"/>
              <a:buNone/>
              <a:defRPr b="1"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arker Grotesque"/>
              <a:buNone/>
              <a:defRPr b="1"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arker Grotesque"/>
              <a:buNone/>
              <a:defRPr b="1"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arker Grotesque"/>
              <a:buNone/>
              <a:defRPr b="1"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9pPr>
          </a:lstStyle>
          <a:p/>
        </p:txBody>
      </p:sp>
      <p:sp>
        <p:nvSpPr>
          <p:cNvPr id="67" name="Google Shape;67;p13"/>
          <p:cNvSpPr txBox="1"/>
          <p:nvPr>
            <p:ph idx="5" type="subTitle"/>
          </p:nvPr>
        </p:nvSpPr>
        <p:spPr>
          <a:xfrm>
            <a:off x="6924498" y="2436875"/>
            <a:ext cx="1878300" cy="539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arker Grotesque"/>
              <a:buNone/>
              <a:defRPr sz="1800"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arker Grotesque"/>
              <a:buNone/>
              <a:defRPr b="1"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arker Grotesque"/>
              <a:buNone/>
              <a:defRPr b="1"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arker Grotesque"/>
              <a:buNone/>
              <a:defRPr b="1"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arker Grotesque"/>
              <a:buNone/>
              <a:defRPr b="1"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arker Grotesque"/>
              <a:buNone/>
              <a:defRPr b="1"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arker Grotesque"/>
              <a:buNone/>
              <a:defRPr b="1"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arker Grotesque"/>
              <a:buNone/>
              <a:defRPr b="1"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arker Grotesque"/>
              <a:buNone/>
              <a:defRPr b="1"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9pPr>
          </a:lstStyle>
          <a:p/>
        </p:txBody>
      </p:sp>
      <p:sp>
        <p:nvSpPr>
          <p:cNvPr id="68" name="Google Shape;68;p13"/>
          <p:cNvSpPr txBox="1"/>
          <p:nvPr>
            <p:ph idx="6" type="subTitle"/>
          </p:nvPr>
        </p:nvSpPr>
        <p:spPr>
          <a:xfrm>
            <a:off x="6924498" y="3083083"/>
            <a:ext cx="1878300" cy="539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arker Grotesque"/>
              <a:buNone/>
              <a:defRPr sz="1800"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arker Grotesque"/>
              <a:buNone/>
              <a:defRPr b="1"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arker Grotesque"/>
              <a:buNone/>
              <a:defRPr b="1"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arker Grotesque"/>
              <a:buNone/>
              <a:defRPr b="1"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arker Grotesque"/>
              <a:buNone/>
              <a:defRPr b="1"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arker Grotesque"/>
              <a:buNone/>
              <a:defRPr b="1"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arker Grotesque"/>
              <a:buNone/>
              <a:defRPr b="1"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arker Grotesque"/>
              <a:buNone/>
              <a:defRPr b="1"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arker Grotesque"/>
              <a:buNone/>
              <a:defRPr b="1"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9pPr>
          </a:lstStyle>
          <a:p/>
        </p:txBody>
      </p:sp>
      <p:sp>
        <p:nvSpPr>
          <p:cNvPr id="69" name="Google Shape;69;p13"/>
          <p:cNvSpPr txBox="1"/>
          <p:nvPr>
            <p:ph idx="7" type="subTitle"/>
          </p:nvPr>
        </p:nvSpPr>
        <p:spPr>
          <a:xfrm>
            <a:off x="6924498" y="3729292"/>
            <a:ext cx="1878300" cy="539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arker Grotesque"/>
              <a:buNone/>
              <a:defRPr sz="1800"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arker Grotesque"/>
              <a:buNone/>
              <a:defRPr b="1"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arker Grotesque"/>
              <a:buNone/>
              <a:defRPr b="1"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arker Grotesque"/>
              <a:buNone/>
              <a:defRPr b="1"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arker Grotesque"/>
              <a:buNone/>
              <a:defRPr b="1"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arker Grotesque"/>
              <a:buNone/>
              <a:defRPr b="1"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arker Grotesque"/>
              <a:buNone/>
              <a:defRPr b="1"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arker Grotesque"/>
              <a:buNone/>
              <a:defRPr b="1"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arker Grotesque"/>
              <a:buNone/>
              <a:defRPr b="1"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9pPr>
          </a:lstStyle>
          <a:p/>
        </p:txBody>
      </p:sp>
      <p:sp>
        <p:nvSpPr>
          <p:cNvPr id="70" name="Google Shape;70;p13"/>
          <p:cNvSpPr txBox="1"/>
          <p:nvPr>
            <p:ph idx="8" type="subTitle"/>
          </p:nvPr>
        </p:nvSpPr>
        <p:spPr>
          <a:xfrm>
            <a:off x="6924498" y="4375500"/>
            <a:ext cx="1878300" cy="539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arker Grotesque"/>
              <a:buNone/>
              <a:defRPr sz="1800"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arker Grotesque"/>
              <a:buNone/>
              <a:defRPr b="1"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arker Grotesque"/>
              <a:buNone/>
              <a:defRPr b="1"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arker Grotesque"/>
              <a:buNone/>
              <a:defRPr b="1"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arker Grotesque"/>
              <a:buNone/>
              <a:defRPr b="1"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arker Grotesque"/>
              <a:buNone/>
              <a:defRPr b="1"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arker Grotesque"/>
              <a:buNone/>
              <a:defRPr b="1"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arker Grotesque"/>
              <a:buNone/>
              <a:defRPr b="1"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arker Grotesque"/>
              <a:buNone/>
              <a:defRPr b="1"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9pPr>
          </a:lstStyle>
          <a:p/>
        </p:txBody>
      </p:sp>
      <p:sp>
        <p:nvSpPr>
          <p:cNvPr id="71" name="Google Shape;71;p13"/>
          <p:cNvSpPr txBox="1"/>
          <p:nvPr>
            <p:ph hasCustomPrompt="1" idx="9" type="title"/>
          </p:nvPr>
        </p:nvSpPr>
        <p:spPr>
          <a:xfrm>
            <a:off x="3128925" y="4375500"/>
            <a:ext cx="491400" cy="5394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0" sz="2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0" sz="2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0" sz="2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0" sz="2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0" sz="2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0" sz="2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0" sz="2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0" sz="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2" name="Google Shape;72;p13"/>
          <p:cNvSpPr txBox="1"/>
          <p:nvPr>
            <p:ph hasCustomPrompt="1" idx="13" type="title"/>
          </p:nvPr>
        </p:nvSpPr>
        <p:spPr>
          <a:xfrm>
            <a:off x="3128925" y="3082783"/>
            <a:ext cx="491400" cy="5391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0" sz="2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0" sz="2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0" sz="2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0" sz="2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0" sz="2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0" sz="2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0" sz="2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0" sz="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3" name="Google Shape;73;p13"/>
          <p:cNvSpPr txBox="1"/>
          <p:nvPr>
            <p:ph hasCustomPrompt="1" idx="14" type="title"/>
          </p:nvPr>
        </p:nvSpPr>
        <p:spPr>
          <a:xfrm>
            <a:off x="3129393" y="2436875"/>
            <a:ext cx="490800" cy="5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0" sz="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0" sz="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0" sz="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0" sz="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0" sz="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0" sz="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0" sz="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0" sz="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4" name="Google Shape;74;p13"/>
          <p:cNvSpPr txBox="1"/>
          <p:nvPr>
            <p:ph hasCustomPrompt="1" idx="15" type="title"/>
          </p:nvPr>
        </p:nvSpPr>
        <p:spPr>
          <a:xfrm>
            <a:off x="3128925" y="3728991"/>
            <a:ext cx="491400" cy="539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0" sz="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0" sz="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0" sz="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0" sz="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0" sz="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0" sz="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0" sz="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0" sz="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5" name="Google Shape;75;p13"/>
          <p:cNvSpPr txBox="1"/>
          <p:nvPr>
            <p:ph hasCustomPrompt="1" idx="16" type="title"/>
          </p:nvPr>
        </p:nvSpPr>
        <p:spPr>
          <a:xfrm>
            <a:off x="6356910" y="3083188"/>
            <a:ext cx="491400" cy="5391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0" sz="2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0" sz="2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0" sz="2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0" sz="2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0" sz="2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0" sz="2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0" sz="2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0" sz="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6" name="Google Shape;76;p13"/>
          <p:cNvSpPr txBox="1"/>
          <p:nvPr>
            <p:ph hasCustomPrompt="1" idx="17" type="title"/>
          </p:nvPr>
        </p:nvSpPr>
        <p:spPr>
          <a:xfrm>
            <a:off x="6356898" y="3729260"/>
            <a:ext cx="491400" cy="5394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0" sz="2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0" sz="2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0" sz="2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0" sz="2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0" sz="2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0" sz="2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0" sz="2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0" sz="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3"/>
          <p:cNvSpPr txBox="1"/>
          <p:nvPr>
            <p:ph hasCustomPrompt="1" idx="18" type="title"/>
          </p:nvPr>
        </p:nvSpPr>
        <p:spPr>
          <a:xfrm>
            <a:off x="6356910" y="4375500"/>
            <a:ext cx="491400" cy="5394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0" sz="2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0" sz="2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0" sz="2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0" sz="2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0" sz="2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0" sz="2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0" sz="2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0" sz="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3"/>
          <p:cNvSpPr txBox="1"/>
          <p:nvPr>
            <p:ph hasCustomPrompt="1" idx="19" type="title"/>
          </p:nvPr>
        </p:nvSpPr>
        <p:spPr>
          <a:xfrm>
            <a:off x="6356909" y="2436875"/>
            <a:ext cx="491400" cy="539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0" sz="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0" sz="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0" sz="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0" sz="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0" sz="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0" sz="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0" sz="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0" sz="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4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4"/>
          <p:cNvSpPr txBox="1"/>
          <p:nvPr>
            <p:ph type="title"/>
          </p:nvPr>
        </p:nvSpPr>
        <p:spPr>
          <a:xfrm>
            <a:off x="602838" y="1199250"/>
            <a:ext cx="3735900" cy="164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81" name="Google Shape;81;p14"/>
          <p:cNvSpPr txBox="1"/>
          <p:nvPr>
            <p:ph idx="1" type="subTitle"/>
          </p:nvPr>
        </p:nvSpPr>
        <p:spPr>
          <a:xfrm>
            <a:off x="4711025" y="2951025"/>
            <a:ext cx="4204800" cy="171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grpSp>
        <p:nvGrpSpPr>
          <p:cNvPr id="82" name="Google Shape;82;p14"/>
          <p:cNvGrpSpPr/>
          <p:nvPr/>
        </p:nvGrpSpPr>
        <p:grpSpPr>
          <a:xfrm>
            <a:off x="602839" y="-94200"/>
            <a:ext cx="8844936" cy="5331900"/>
            <a:chOff x="602839" y="-94200"/>
            <a:chExt cx="8844936" cy="5331900"/>
          </a:xfrm>
        </p:grpSpPr>
        <p:cxnSp>
          <p:nvCxnSpPr>
            <p:cNvPr id="83" name="Google Shape;83;p14"/>
            <p:cNvCxnSpPr/>
            <p:nvPr/>
          </p:nvCxnSpPr>
          <p:spPr>
            <a:xfrm>
              <a:off x="602839" y="-94200"/>
              <a:ext cx="0" cy="5331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4" name="Google Shape;84;p14"/>
            <p:cNvCxnSpPr/>
            <p:nvPr/>
          </p:nvCxnSpPr>
          <p:spPr>
            <a:xfrm rot="10800000">
              <a:off x="604975" y="845525"/>
              <a:ext cx="88428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ONE_COLUMN_TEXT_1">
    <p:bg>
      <p:bgPr>
        <a:solidFill>
          <a:schemeClr val="accent1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5"/>
          <p:cNvSpPr txBox="1"/>
          <p:nvPr>
            <p:ph type="title"/>
          </p:nvPr>
        </p:nvSpPr>
        <p:spPr>
          <a:xfrm>
            <a:off x="235375" y="1760325"/>
            <a:ext cx="2751000" cy="109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7" name="Google Shape;87;p15"/>
          <p:cNvSpPr txBox="1"/>
          <p:nvPr>
            <p:ph idx="1" type="subTitle"/>
          </p:nvPr>
        </p:nvSpPr>
        <p:spPr>
          <a:xfrm>
            <a:off x="923650" y="3006000"/>
            <a:ext cx="4294800" cy="19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Open Sans Light"/>
              <a:buChar char="●"/>
              <a:defRPr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unito Light"/>
              <a:buChar char="○"/>
              <a:defRPr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Light"/>
              <a:buChar char="■"/>
              <a:defRPr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unito Light"/>
              <a:buChar char="●"/>
              <a:defRPr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unito Light"/>
              <a:buChar char="○"/>
              <a:defRPr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unito Light"/>
              <a:buChar char="■"/>
              <a:defRPr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Nunito Light"/>
              <a:buChar char="●"/>
              <a:defRPr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Nunito Light"/>
              <a:buChar char="○"/>
              <a:defRPr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unito Light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8" name="Google Shape;88;p15"/>
          <p:cNvSpPr/>
          <p:nvPr>
            <p:ph idx="2" type="pic"/>
          </p:nvPr>
        </p:nvSpPr>
        <p:spPr>
          <a:xfrm flipH="1">
            <a:off x="5666363" y="1236968"/>
            <a:ext cx="1743900" cy="25947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89" name="Google Shape;89;p15"/>
          <p:cNvGrpSpPr/>
          <p:nvPr/>
        </p:nvGrpSpPr>
        <p:grpSpPr>
          <a:xfrm>
            <a:off x="-874600" y="-94200"/>
            <a:ext cx="8682900" cy="5331900"/>
            <a:chOff x="-874600" y="-94200"/>
            <a:chExt cx="8682900" cy="5331900"/>
          </a:xfrm>
        </p:grpSpPr>
        <p:cxnSp>
          <p:nvCxnSpPr>
            <p:cNvPr id="90" name="Google Shape;90;p15"/>
            <p:cNvCxnSpPr/>
            <p:nvPr/>
          </p:nvCxnSpPr>
          <p:spPr>
            <a:xfrm>
              <a:off x="7808300" y="-94200"/>
              <a:ext cx="0" cy="53319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1" name="Google Shape;91;p15"/>
            <p:cNvCxnSpPr/>
            <p:nvPr/>
          </p:nvCxnSpPr>
          <p:spPr>
            <a:xfrm>
              <a:off x="-874600" y="845525"/>
              <a:ext cx="8682900" cy="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bg>
      <p:bgPr>
        <a:solidFill>
          <a:schemeClr val="accent3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6"/>
          <p:cNvSpPr txBox="1"/>
          <p:nvPr>
            <p:ph type="title"/>
          </p:nvPr>
        </p:nvSpPr>
        <p:spPr>
          <a:xfrm>
            <a:off x="228450" y="845525"/>
            <a:ext cx="7772700" cy="172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94" name="Google Shape;94;p16"/>
          <p:cNvSpPr txBox="1"/>
          <p:nvPr>
            <p:ph idx="1" type="subTitle"/>
          </p:nvPr>
        </p:nvSpPr>
        <p:spPr>
          <a:xfrm>
            <a:off x="228450" y="3441225"/>
            <a:ext cx="2289000" cy="147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95" name="Google Shape;95;p16"/>
          <p:cNvSpPr txBox="1"/>
          <p:nvPr>
            <p:ph idx="2" type="subTitle"/>
          </p:nvPr>
        </p:nvSpPr>
        <p:spPr>
          <a:xfrm>
            <a:off x="2984000" y="3441225"/>
            <a:ext cx="2289000" cy="147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96" name="Google Shape;96;p16"/>
          <p:cNvSpPr txBox="1"/>
          <p:nvPr>
            <p:ph idx="3" type="subTitle"/>
          </p:nvPr>
        </p:nvSpPr>
        <p:spPr>
          <a:xfrm>
            <a:off x="5739550" y="3441225"/>
            <a:ext cx="2289000" cy="147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grpSp>
        <p:nvGrpSpPr>
          <p:cNvPr id="97" name="Google Shape;97;p16"/>
          <p:cNvGrpSpPr/>
          <p:nvPr/>
        </p:nvGrpSpPr>
        <p:grpSpPr>
          <a:xfrm flipH="1">
            <a:off x="-303636" y="-94200"/>
            <a:ext cx="8844936" cy="5331900"/>
            <a:chOff x="602839" y="-94200"/>
            <a:chExt cx="8844936" cy="5331900"/>
          </a:xfrm>
        </p:grpSpPr>
        <p:cxnSp>
          <p:nvCxnSpPr>
            <p:cNvPr id="98" name="Google Shape;98;p16"/>
            <p:cNvCxnSpPr/>
            <p:nvPr/>
          </p:nvCxnSpPr>
          <p:spPr>
            <a:xfrm>
              <a:off x="602839" y="-94200"/>
              <a:ext cx="0" cy="5331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9" name="Google Shape;99;p16"/>
            <p:cNvCxnSpPr/>
            <p:nvPr/>
          </p:nvCxnSpPr>
          <p:spPr>
            <a:xfrm rot="10800000">
              <a:off x="604975" y="616925"/>
              <a:ext cx="88428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bg>
      <p:bgPr>
        <a:solidFill>
          <a:schemeClr val="accent1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" name="Google Shape;101;p17"/>
          <p:cNvGrpSpPr/>
          <p:nvPr/>
        </p:nvGrpSpPr>
        <p:grpSpPr>
          <a:xfrm>
            <a:off x="602839" y="-94200"/>
            <a:ext cx="8844936" cy="5331900"/>
            <a:chOff x="602839" y="-94200"/>
            <a:chExt cx="8844936" cy="5331900"/>
          </a:xfrm>
        </p:grpSpPr>
        <p:cxnSp>
          <p:nvCxnSpPr>
            <p:cNvPr id="102" name="Google Shape;102;p17"/>
            <p:cNvCxnSpPr/>
            <p:nvPr/>
          </p:nvCxnSpPr>
          <p:spPr>
            <a:xfrm>
              <a:off x="602839" y="-94200"/>
              <a:ext cx="0" cy="53319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3" name="Google Shape;103;p17"/>
            <p:cNvCxnSpPr/>
            <p:nvPr/>
          </p:nvCxnSpPr>
          <p:spPr>
            <a:xfrm rot="10800000">
              <a:off x="604975" y="616925"/>
              <a:ext cx="8842800" cy="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04" name="Google Shape;104;p17"/>
          <p:cNvSpPr txBox="1"/>
          <p:nvPr>
            <p:ph type="title"/>
          </p:nvPr>
        </p:nvSpPr>
        <p:spPr>
          <a:xfrm>
            <a:off x="1028600" y="3874600"/>
            <a:ext cx="7704000" cy="1040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  <a:defRPr sz="2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5" name="Google Shape;105;p17"/>
          <p:cNvSpPr txBox="1"/>
          <p:nvPr>
            <p:ph idx="1" type="subTitle"/>
          </p:nvPr>
        </p:nvSpPr>
        <p:spPr>
          <a:xfrm>
            <a:off x="1028600" y="2319450"/>
            <a:ext cx="1799400" cy="149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2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6" name="Google Shape;106;p17"/>
          <p:cNvSpPr txBox="1"/>
          <p:nvPr>
            <p:ph idx="2" type="subTitle"/>
          </p:nvPr>
        </p:nvSpPr>
        <p:spPr>
          <a:xfrm>
            <a:off x="1028600" y="1430075"/>
            <a:ext cx="1799400" cy="88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arker Grotesque"/>
              <a:buNone/>
              <a:defRPr b="1" sz="1800"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arker Grotesque"/>
              <a:buNone/>
              <a:defRPr sz="2400"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arker Grotesque"/>
              <a:buNone/>
              <a:defRPr sz="2400"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arker Grotesque"/>
              <a:buNone/>
              <a:defRPr sz="2400"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arker Grotesque"/>
              <a:buNone/>
              <a:defRPr sz="2400"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arker Grotesque"/>
              <a:buNone/>
              <a:defRPr sz="2400"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arker Grotesque"/>
              <a:buNone/>
              <a:defRPr sz="2400"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arker Grotesque"/>
              <a:buNone/>
              <a:defRPr sz="2400"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arker Grotesque"/>
              <a:buNone/>
              <a:defRPr sz="2400"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9pPr>
          </a:lstStyle>
          <a:p/>
        </p:txBody>
      </p:sp>
      <p:sp>
        <p:nvSpPr>
          <p:cNvPr id="107" name="Google Shape;107;p17"/>
          <p:cNvSpPr txBox="1"/>
          <p:nvPr>
            <p:ph idx="3" type="subTitle"/>
          </p:nvPr>
        </p:nvSpPr>
        <p:spPr>
          <a:xfrm>
            <a:off x="3057833" y="2319450"/>
            <a:ext cx="1799400" cy="149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2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8" name="Google Shape;108;p17"/>
          <p:cNvSpPr txBox="1"/>
          <p:nvPr>
            <p:ph idx="4" type="subTitle"/>
          </p:nvPr>
        </p:nvSpPr>
        <p:spPr>
          <a:xfrm>
            <a:off x="3057833" y="1430075"/>
            <a:ext cx="1799400" cy="88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arker Grotesque"/>
              <a:buNone/>
              <a:defRPr b="1" sz="1800"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arker Grotesque"/>
              <a:buNone/>
              <a:defRPr sz="2400"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arker Grotesque"/>
              <a:buNone/>
              <a:defRPr sz="2400"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arker Grotesque"/>
              <a:buNone/>
              <a:defRPr sz="2400"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arker Grotesque"/>
              <a:buNone/>
              <a:defRPr sz="2400"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arker Grotesque"/>
              <a:buNone/>
              <a:defRPr sz="2400"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arker Grotesque"/>
              <a:buNone/>
              <a:defRPr sz="2400"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arker Grotesque"/>
              <a:buNone/>
              <a:defRPr sz="2400"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arker Grotesque"/>
              <a:buNone/>
              <a:defRPr sz="2400"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9pPr>
          </a:lstStyle>
          <a:p/>
        </p:txBody>
      </p:sp>
      <p:sp>
        <p:nvSpPr>
          <p:cNvPr id="109" name="Google Shape;109;p17"/>
          <p:cNvSpPr txBox="1"/>
          <p:nvPr>
            <p:ph idx="5" type="subTitle"/>
          </p:nvPr>
        </p:nvSpPr>
        <p:spPr>
          <a:xfrm>
            <a:off x="5087067" y="2319450"/>
            <a:ext cx="1799400" cy="149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2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0" name="Google Shape;110;p17"/>
          <p:cNvSpPr txBox="1"/>
          <p:nvPr>
            <p:ph idx="6" type="subTitle"/>
          </p:nvPr>
        </p:nvSpPr>
        <p:spPr>
          <a:xfrm>
            <a:off x="5087067" y="1430075"/>
            <a:ext cx="1799400" cy="88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arker Grotesque"/>
              <a:buNone/>
              <a:defRPr b="1" sz="1800"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arker Grotesque"/>
              <a:buNone/>
              <a:defRPr sz="2400"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arker Grotesque"/>
              <a:buNone/>
              <a:defRPr sz="2400"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arker Grotesque"/>
              <a:buNone/>
              <a:defRPr sz="2400"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arker Grotesque"/>
              <a:buNone/>
              <a:defRPr sz="2400"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arker Grotesque"/>
              <a:buNone/>
              <a:defRPr sz="2400"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arker Grotesque"/>
              <a:buNone/>
              <a:defRPr sz="2400"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arker Grotesque"/>
              <a:buNone/>
              <a:defRPr sz="2400"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arker Grotesque"/>
              <a:buNone/>
              <a:defRPr sz="2400"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9pPr>
          </a:lstStyle>
          <a:p/>
        </p:txBody>
      </p:sp>
      <p:sp>
        <p:nvSpPr>
          <p:cNvPr id="111" name="Google Shape;111;p17"/>
          <p:cNvSpPr txBox="1"/>
          <p:nvPr>
            <p:ph idx="7" type="subTitle"/>
          </p:nvPr>
        </p:nvSpPr>
        <p:spPr>
          <a:xfrm>
            <a:off x="7116300" y="2319450"/>
            <a:ext cx="1799400" cy="149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2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2" name="Google Shape;112;p17"/>
          <p:cNvSpPr txBox="1"/>
          <p:nvPr>
            <p:ph idx="8" type="subTitle"/>
          </p:nvPr>
        </p:nvSpPr>
        <p:spPr>
          <a:xfrm>
            <a:off x="7116300" y="1430075"/>
            <a:ext cx="1799400" cy="88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arker Grotesque"/>
              <a:buNone/>
              <a:defRPr b="1" sz="1800"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arker Grotesque"/>
              <a:buNone/>
              <a:defRPr sz="2400"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arker Grotesque"/>
              <a:buNone/>
              <a:defRPr sz="2400"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arker Grotesque"/>
              <a:buNone/>
              <a:defRPr sz="2400"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arker Grotesque"/>
              <a:buNone/>
              <a:defRPr sz="2400"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arker Grotesque"/>
              <a:buNone/>
              <a:defRPr sz="2400"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arker Grotesque"/>
              <a:buNone/>
              <a:defRPr sz="2400"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arker Grotesque"/>
              <a:buNone/>
              <a:defRPr sz="2400"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arker Grotesque"/>
              <a:buNone/>
              <a:defRPr sz="2400"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bg>
      <p:bgPr>
        <a:solidFill>
          <a:schemeClr val="accent1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8"/>
          <p:cNvSpPr txBox="1"/>
          <p:nvPr>
            <p:ph type="title"/>
          </p:nvPr>
        </p:nvSpPr>
        <p:spPr>
          <a:xfrm>
            <a:off x="228600" y="228600"/>
            <a:ext cx="8686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_ONLY_2">
    <p:bg>
      <p:bgPr>
        <a:solidFill>
          <a:schemeClr val="lt1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9"/>
          <p:cNvSpPr txBox="1"/>
          <p:nvPr>
            <p:ph type="title"/>
          </p:nvPr>
        </p:nvSpPr>
        <p:spPr>
          <a:xfrm>
            <a:off x="228600" y="228600"/>
            <a:ext cx="8686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bg>
      <p:bgPr>
        <a:solidFill>
          <a:schemeClr val="accent3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0"/>
          <p:cNvSpPr txBox="1"/>
          <p:nvPr>
            <p:ph type="title"/>
          </p:nvPr>
        </p:nvSpPr>
        <p:spPr>
          <a:xfrm>
            <a:off x="4906825" y="864845"/>
            <a:ext cx="4008900" cy="203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  <p:sp>
        <p:nvSpPr>
          <p:cNvPr id="119" name="Google Shape;119;p20"/>
          <p:cNvSpPr txBox="1"/>
          <p:nvPr>
            <p:ph idx="1" type="subTitle"/>
          </p:nvPr>
        </p:nvSpPr>
        <p:spPr>
          <a:xfrm>
            <a:off x="4906825" y="2969145"/>
            <a:ext cx="4008900" cy="141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grpSp>
        <p:nvGrpSpPr>
          <p:cNvPr id="120" name="Google Shape;120;p20"/>
          <p:cNvGrpSpPr/>
          <p:nvPr/>
        </p:nvGrpSpPr>
        <p:grpSpPr>
          <a:xfrm>
            <a:off x="1028589" y="-94200"/>
            <a:ext cx="8682900" cy="5331900"/>
            <a:chOff x="1341114" y="-94200"/>
            <a:chExt cx="8682900" cy="5331900"/>
          </a:xfrm>
        </p:grpSpPr>
        <p:cxnSp>
          <p:nvCxnSpPr>
            <p:cNvPr id="121" name="Google Shape;121;p20"/>
            <p:cNvCxnSpPr/>
            <p:nvPr/>
          </p:nvCxnSpPr>
          <p:spPr>
            <a:xfrm>
              <a:off x="1341114" y="-94200"/>
              <a:ext cx="0" cy="5331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2" name="Google Shape;122;p20"/>
            <p:cNvCxnSpPr/>
            <p:nvPr/>
          </p:nvCxnSpPr>
          <p:spPr>
            <a:xfrm rot="10800000">
              <a:off x="1341114" y="734600"/>
              <a:ext cx="8682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23" name="Google Shape;123;p20"/>
          <p:cNvSpPr txBox="1"/>
          <p:nvPr/>
        </p:nvSpPr>
        <p:spPr>
          <a:xfrm>
            <a:off x="4906500" y="4394925"/>
            <a:ext cx="4008900" cy="44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Be Vietnam Pro Light"/>
                <a:ea typeface="Be Vietnam Pro Light"/>
                <a:cs typeface="Be Vietnam Pro Light"/>
                <a:sym typeface="Be Vietnam Pro Light"/>
              </a:rPr>
              <a:t>CREDITS: This presentation template was created by </a:t>
            </a:r>
            <a:r>
              <a:rPr lang="en" sz="1000">
                <a:solidFill>
                  <a:schemeClr val="dk1"/>
                </a:solidFill>
                <a:uFill>
                  <a:noFill/>
                </a:uFill>
                <a:latin typeface="Be Vietnam Pro Light"/>
                <a:ea typeface="Be Vietnam Pro Light"/>
                <a:cs typeface="Be Vietnam Pro Light"/>
                <a:sym typeface="Be Vietnam Pro Light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dk1"/>
                </a:solidFill>
                <a:latin typeface="Be Vietnam Pro Light"/>
                <a:ea typeface="Be Vietnam Pro Light"/>
                <a:cs typeface="Be Vietnam Pro Light"/>
                <a:sym typeface="Be Vietnam Pro Light"/>
              </a:rPr>
              <a:t>, and includes icons, infographics &amp; images by </a:t>
            </a:r>
            <a:r>
              <a:rPr lang="en" sz="1000">
                <a:solidFill>
                  <a:schemeClr val="dk1"/>
                </a:solidFill>
                <a:uFill>
                  <a:noFill/>
                </a:uFill>
                <a:latin typeface="Be Vietnam Pro Light"/>
                <a:ea typeface="Be Vietnam Pro Light"/>
                <a:cs typeface="Be Vietnam Pro Light"/>
                <a:sym typeface="Be Vietnam Pro Ligh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000">
                <a:solidFill>
                  <a:schemeClr val="dk1"/>
                </a:solidFill>
                <a:latin typeface="Be Vietnam Pro Light"/>
                <a:ea typeface="Be Vietnam Pro Light"/>
                <a:cs typeface="Be Vietnam Pro Light"/>
                <a:sym typeface="Be Vietnam Pro Light"/>
              </a:rPr>
              <a:t> </a:t>
            </a:r>
            <a:endParaRPr sz="1000" u="sng">
              <a:solidFill>
                <a:schemeClr val="dk1"/>
              </a:solidFill>
              <a:latin typeface="Be Vietnam Pro Light"/>
              <a:ea typeface="Be Vietnam Pro Light"/>
              <a:cs typeface="Be Vietnam Pro Light"/>
              <a:sym typeface="Be Vietnam Pro Light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28600" y="228600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Darker Grotesque"/>
              <a:buNone/>
              <a:defRPr b="1" sz="26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arker Grotesque"/>
              <a:buNone/>
              <a:defRPr b="1" sz="35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arker Grotesque"/>
              <a:buNone/>
              <a:defRPr b="1" sz="35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arker Grotesque"/>
              <a:buNone/>
              <a:defRPr b="1" sz="35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arker Grotesque"/>
              <a:buNone/>
              <a:defRPr b="1" sz="35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arker Grotesque"/>
              <a:buNone/>
              <a:defRPr b="1" sz="35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arker Grotesque"/>
              <a:buNone/>
              <a:defRPr b="1" sz="35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arker Grotesque"/>
              <a:buNone/>
              <a:defRPr b="1" sz="35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arker Grotesque"/>
              <a:buNone/>
              <a:defRPr b="1" sz="35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28600" y="936050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e Vietnam Pro Light"/>
              <a:buChar char="●"/>
              <a:defRPr sz="1200">
                <a:solidFill>
                  <a:schemeClr val="dk1"/>
                </a:solidFill>
                <a:latin typeface="Be Vietnam Pro Light"/>
                <a:ea typeface="Be Vietnam Pro Light"/>
                <a:cs typeface="Be Vietnam Pro Light"/>
                <a:sym typeface="Be Vietnam Pro Light"/>
              </a:defRPr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e Vietnam Pro Light"/>
              <a:buChar char="○"/>
              <a:defRPr sz="1200">
                <a:solidFill>
                  <a:schemeClr val="dk1"/>
                </a:solidFill>
                <a:latin typeface="Be Vietnam Pro Light"/>
                <a:ea typeface="Be Vietnam Pro Light"/>
                <a:cs typeface="Be Vietnam Pro Light"/>
                <a:sym typeface="Be Vietnam Pro Light"/>
              </a:defRPr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e Vietnam Pro Light"/>
              <a:buChar char="■"/>
              <a:defRPr sz="1200">
                <a:solidFill>
                  <a:schemeClr val="dk1"/>
                </a:solidFill>
                <a:latin typeface="Be Vietnam Pro Light"/>
                <a:ea typeface="Be Vietnam Pro Light"/>
                <a:cs typeface="Be Vietnam Pro Light"/>
                <a:sym typeface="Be Vietnam Pro Light"/>
              </a:defRPr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e Vietnam Pro Light"/>
              <a:buChar char="●"/>
              <a:defRPr sz="1200">
                <a:solidFill>
                  <a:schemeClr val="dk1"/>
                </a:solidFill>
                <a:latin typeface="Be Vietnam Pro Light"/>
                <a:ea typeface="Be Vietnam Pro Light"/>
                <a:cs typeface="Be Vietnam Pro Light"/>
                <a:sym typeface="Be Vietnam Pro Light"/>
              </a:defRPr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e Vietnam Pro Light"/>
              <a:buChar char="○"/>
              <a:defRPr sz="1200">
                <a:solidFill>
                  <a:schemeClr val="dk1"/>
                </a:solidFill>
                <a:latin typeface="Be Vietnam Pro Light"/>
                <a:ea typeface="Be Vietnam Pro Light"/>
                <a:cs typeface="Be Vietnam Pro Light"/>
                <a:sym typeface="Be Vietnam Pro Light"/>
              </a:defRPr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e Vietnam Pro Light"/>
              <a:buChar char="■"/>
              <a:defRPr sz="1200">
                <a:solidFill>
                  <a:schemeClr val="dk1"/>
                </a:solidFill>
                <a:latin typeface="Be Vietnam Pro Light"/>
                <a:ea typeface="Be Vietnam Pro Light"/>
                <a:cs typeface="Be Vietnam Pro Light"/>
                <a:sym typeface="Be Vietnam Pro Light"/>
              </a:defRPr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e Vietnam Pro Light"/>
              <a:buChar char="●"/>
              <a:defRPr sz="1200">
                <a:solidFill>
                  <a:schemeClr val="dk1"/>
                </a:solidFill>
                <a:latin typeface="Be Vietnam Pro Light"/>
                <a:ea typeface="Be Vietnam Pro Light"/>
                <a:cs typeface="Be Vietnam Pro Light"/>
                <a:sym typeface="Be Vietnam Pro Light"/>
              </a:defRPr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e Vietnam Pro Light"/>
              <a:buChar char="○"/>
              <a:defRPr sz="1200">
                <a:solidFill>
                  <a:schemeClr val="dk1"/>
                </a:solidFill>
                <a:latin typeface="Be Vietnam Pro Light"/>
                <a:ea typeface="Be Vietnam Pro Light"/>
                <a:cs typeface="Be Vietnam Pro Light"/>
                <a:sym typeface="Be Vietnam Pro Light"/>
              </a:defRPr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e Vietnam Pro Light"/>
              <a:buChar char="■"/>
              <a:defRPr sz="1200">
                <a:solidFill>
                  <a:schemeClr val="dk1"/>
                </a:solidFill>
                <a:latin typeface="Be Vietnam Pro Light"/>
                <a:ea typeface="Be Vietnam Pro Light"/>
                <a:cs typeface="Be Vietnam Pro Light"/>
                <a:sym typeface="Be Vietnam Pro Ligh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stateofdb.com/vs/neo4j-vs-surreal" TargetMode="External"/><Relationship Id="rId4" Type="http://schemas.openxmlformats.org/officeDocument/2006/relationships/hyperlink" Target="https://surrealdb.com/blog/beginning-our-benchmarking-journey#details-of-this-benchmarking-run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3"/>
          <p:cNvSpPr txBox="1"/>
          <p:nvPr>
            <p:ph type="ctrTitle"/>
          </p:nvPr>
        </p:nvSpPr>
        <p:spPr>
          <a:xfrm flipH="1">
            <a:off x="228500" y="1791600"/>
            <a:ext cx="7268100" cy="240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Zaawansowane</a:t>
            </a:r>
            <a:r>
              <a:rPr lang="en">
                <a:latin typeface="Darker Grotesque"/>
                <a:ea typeface="Darker Grotesque"/>
                <a:cs typeface="Darker Grotesque"/>
                <a:sym typeface="Darker Grotesque"/>
              </a:rPr>
              <a:t> </a:t>
            </a:r>
            <a:r>
              <a:rPr b="0" lang="en"/>
              <a:t>bazy danych</a:t>
            </a:r>
            <a:endParaRPr b="0"/>
          </a:p>
        </p:txBody>
      </p:sp>
      <p:sp>
        <p:nvSpPr>
          <p:cNvPr id="131" name="Google Shape;131;p23"/>
          <p:cNvSpPr txBox="1"/>
          <p:nvPr>
            <p:ph idx="1" type="subTitle"/>
          </p:nvPr>
        </p:nvSpPr>
        <p:spPr>
          <a:xfrm flipH="1">
            <a:off x="228500" y="4317375"/>
            <a:ext cx="7268100" cy="59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Darker Grotesque"/>
                <a:ea typeface="Darker Grotesque"/>
                <a:cs typeface="Darker Grotesque"/>
                <a:sym typeface="Darker Grotesque"/>
              </a:rPr>
              <a:t>System Rekomendacji Filmów</a:t>
            </a:r>
            <a:br>
              <a:rPr b="1" lang="en">
                <a:latin typeface="Darker Grotesque"/>
                <a:ea typeface="Darker Grotesque"/>
                <a:cs typeface="Darker Grotesque"/>
                <a:sym typeface="Darker Grotesque"/>
              </a:rPr>
            </a:br>
            <a:r>
              <a:rPr lang="en">
                <a:latin typeface="Darker Grotesque"/>
                <a:ea typeface="Darker Grotesque"/>
                <a:cs typeface="Darker Grotesque"/>
                <a:sym typeface="Darker Grotesque"/>
              </a:rPr>
              <a:t>Bazujący na Relacjach Grafowych w SurrealDB</a:t>
            </a:r>
            <a:endParaRPr sz="1100"/>
          </a:p>
        </p:txBody>
      </p:sp>
      <p:sp>
        <p:nvSpPr>
          <p:cNvPr id="132" name="Google Shape;132;p23"/>
          <p:cNvSpPr txBox="1"/>
          <p:nvPr/>
        </p:nvSpPr>
        <p:spPr>
          <a:xfrm flipH="1">
            <a:off x="228575" y="373091"/>
            <a:ext cx="1264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19</a:t>
            </a:r>
            <a:r>
              <a:rPr lang="en" sz="16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/12/2025</a:t>
            </a:r>
            <a:endParaRPr sz="16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</p:txBody>
      </p:sp>
      <p:sp>
        <p:nvSpPr>
          <p:cNvPr id="133" name="Google Shape;133;p23"/>
          <p:cNvSpPr txBox="1"/>
          <p:nvPr/>
        </p:nvSpPr>
        <p:spPr>
          <a:xfrm flipH="1" rot="-5400000">
            <a:off x="7707025" y="3632625"/>
            <a:ext cx="1796700" cy="7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Be Vietnam Pro Light"/>
                <a:ea typeface="Be Vietnam Pro Light"/>
                <a:cs typeface="Be Vietnam Pro Light"/>
                <a:sym typeface="Be Vietnam Pro Light"/>
              </a:rPr>
              <a:t>J</a:t>
            </a:r>
            <a:r>
              <a:rPr lang="en" sz="1300">
                <a:solidFill>
                  <a:schemeClr val="dk1"/>
                </a:solidFill>
                <a:latin typeface="Be Vietnam Pro Light"/>
                <a:ea typeface="Be Vietnam Pro Light"/>
                <a:cs typeface="Be Vietnam Pro Light"/>
                <a:sym typeface="Be Vietnam Pro Light"/>
              </a:rPr>
              <a:t>akub Plewa</a:t>
            </a:r>
            <a:endParaRPr sz="1300">
              <a:solidFill>
                <a:schemeClr val="dk1"/>
              </a:solidFill>
              <a:latin typeface="Be Vietnam Pro Light"/>
              <a:ea typeface="Be Vietnam Pro Light"/>
              <a:cs typeface="Be Vietnam Pro Light"/>
              <a:sym typeface="Be Vietnam Pr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Be Vietnam Pro Light"/>
                <a:ea typeface="Be Vietnam Pro Light"/>
                <a:cs typeface="Be Vietnam Pro Light"/>
                <a:sym typeface="Be Vietnam Pro Light"/>
              </a:rPr>
              <a:t>Bartosz Wajs</a:t>
            </a:r>
            <a:endParaRPr sz="1300">
              <a:solidFill>
                <a:schemeClr val="dk1"/>
              </a:solidFill>
              <a:latin typeface="Be Vietnam Pro Light"/>
              <a:ea typeface="Be Vietnam Pro Light"/>
              <a:cs typeface="Be Vietnam Pro Light"/>
              <a:sym typeface="Be Vietnam Pr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Be Vietnam Pro Light"/>
                <a:ea typeface="Be Vietnam Pro Light"/>
                <a:cs typeface="Be Vietnam Pro Light"/>
                <a:sym typeface="Be Vietnam Pro Light"/>
              </a:rPr>
              <a:t>Oskar Wichtowski</a:t>
            </a:r>
            <a:endParaRPr sz="16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</p:txBody>
      </p:sp>
      <p:sp>
        <p:nvSpPr>
          <p:cNvPr id="134" name="Google Shape;134;p23"/>
          <p:cNvSpPr txBox="1"/>
          <p:nvPr/>
        </p:nvSpPr>
        <p:spPr>
          <a:xfrm flipH="1" rot="-5400000">
            <a:off x="7550661" y="522150"/>
            <a:ext cx="12642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CineBrain</a:t>
            </a:r>
            <a:endParaRPr b="1" sz="16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4"/>
          <p:cNvSpPr txBox="1"/>
          <p:nvPr>
            <p:ph type="title"/>
          </p:nvPr>
        </p:nvSpPr>
        <p:spPr>
          <a:xfrm>
            <a:off x="1740650" y="1003575"/>
            <a:ext cx="1967400" cy="539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/>
              <a:t>WYZWANIA</a:t>
            </a:r>
            <a:endParaRPr b="0">
              <a:solidFill>
                <a:schemeClr val="lt1"/>
              </a:solidFill>
            </a:endParaRPr>
          </a:p>
        </p:txBody>
      </p:sp>
      <p:sp>
        <p:nvSpPr>
          <p:cNvPr id="140" name="Google Shape;140;p24"/>
          <p:cNvSpPr txBox="1"/>
          <p:nvPr>
            <p:ph idx="1" type="subTitle"/>
          </p:nvPr>
        </p:nvSpPr>
        <p:spPr>
          <a:xfrm>
            <a:off x="1740650" y="2667525"/>
            <a:ext cx="5618100" cy="37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/>
              <a:t>OGRANICZENIA </a:t>
            </a:r>
            <a:r>
              <a:rPr lang="en" sz="2200"/>
              <a:t>TRADYCYJNYCH </a:t>
            </a:r>
            <a:r>
              <a:rPr b="1" lang="en" sz="2200"/>
              <a:t>BAZ DANYCH</a:t>
            </a:r>
            <a:endParaRPr b="1" sz="2200">
              <a:solidFill>
                <a:schemeClr val="lt1"/>
              </a:solidFill>
            </a:endParaRPr>
          </a:p>
        </p:txBody>
      </p:sp>
      <p:sp>
        <p:nvSpPr>
          <p:cNvPr id="141" name="Google Shape;141;p24"/>
          <p:cNvSpPr txBox="1"/>
          <p:nvPr>
            <p:ph idx="2" type="subTitle"/>
          </p:nvPr>
        </p:nvSpPr>
        <p:spPr>
          <a:xfrm>
            <a:off x="2006075" y="3044925"/>
            <a:ext cx="6165300" cy="83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- Relacyjne bazy danych mają problemy z elastycznym modelowaniem relacji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- Bazy danych </a:t>
            </a:r>
            <a:r>
              <a:rPr b="1" lang="en" sz="1700"/>
              <a:t>dokumentów </a:t>
            </a:r>
            <a:r>
              <a:rPr lang="en" sz="1700"/>
              <a:t>nie obsługują natywnej </a:t>
            </a:r>
            <a:r>
              <a:rPr b="1" lang="en" sz="1700"/>
              <a:t>obsługi relacji</a:t>
            </a:r>
            <a:endParaRPr b="1"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- Złożone </a:t>
            </a:r>
            <a:r>
              <a:rPr b="1" lang="en" sz="1700"/>
              <a:t>zapytania </a:t>
            </a:r>
            <a:r>
              <a:rPr lang="en" sz="1700"/>
              <a:t>wymagają wielu </a:t>
            </a:r>
            <a:r>
              <a:rPr b="1" lang="en" sz="1700"/>
              <a:t>łączeń </a:t>
            </a:r>
            <a:r>
              <a:rPr lang="en" sz="1700"/>
              <a:t>lub </a:t>
            </a:r>
            <a:r>
              <a:rPr b="1" lang="en" sz="1700"/>
              <a:t>agregacji</a:t>
            </a:r>
            <a:endParaRPr b="1"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142" name="Google Shape;142;p24"/>
          <p:cNvSpPr txBox="1"/>
          <p:nvPr/>
        </p:nvSpPr>
        <p:spPr>
          <a:xfrm>
            <a:off x="1475225" y="206625"/>
            <a:ext cx="26748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OPIS PROBLEMU</a:t>
            </a:r>
            <a:endParaRPr b="1"/>
          </a:p>
        </p:txBody>
      </p:sp>
      <p:sp>
        <p:nvSpPr>
          <p:cNvPr id="143" name="Google Shape;143;p24"/>
          <p:cNvSpPr txBox="1"/>
          <p:nvPr/>
        </p:nvSpPr>
        <p:spPr>
          <a:xfrm>
            <a:off x="2095150" y="1478850"/>
            <a:ext cx="70488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Nowoczesne platformy streamingowe </a:t>
            </a:r>
            <a:r>
              <a:rPr lang="en" sz="1700"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(Netflix, Disney+, HBO Max)</a:t>
            </a:r>
            <a:r>
              <a:rPr b="1" lang="en" sz="1700"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 opierają się na systemach rekomendacji, aby </a:t>
            </a:r>
            <a:r>
              <a:rPr b="1" lang="en" sz="1700"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zaproponować</a:t>
            </a:r>
            <a:r>
              <a:rPr b="1" lang="en" sz="1700"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 użytkownikom treści.</a:t>
            </a:r>
            <a:endParaRPr b="1" sz="2600">
              <a:solidFill>
                <a:schemeClr val="lt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5"/>
          <p:cNvSpPr txBox="1"/>
          <p:nvPr>
            <p:ph type="title"/>
          </p:nvPr>
        </p:nvSpPr>
        <p:spPr>
          <a:xfrm>
            <a:off x="602838" y="-80375"/>
            <a:ext cx="3735900" cy="164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800"/>
              <a:t>DLACZEGO SURREAL?</a:t>
            </a:r>
            <a:r>
              <a:rPr lang="en"/>
              <a:t> </a:t>
            </a:r>
            <a:br>
              <a:rPr b="0" lang="en"/>
            </a:br>
            <a:r>
              <a:rPr b="0" lang="en"/>
              <a:t>Rozwiązanie hybrydowe</a:t>
            </a:r>
            <a:endParaRPr sz="4000"/>
          </a:p>
        </p:txBody>
      </p:sp>
      <p:sp>
        <p:nvSpPr>
          <p:cNvPr id="149" name="Google Shape;149;p25"/>
          <p:cNvSpPr txBox="1"/>
          <p:nvPr>
            <p:ph idx="1" type="subTitle"/>
          </p:nvPr>
        </p:nvSpPr>
        <p:spPr>
          <a:xfrm>
            <a:off x="723400" y="2029175"/>
            <a:ext cx="5745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</a:t>
            </a:r>
            <a:r>
              <a:rPr b="1" lang="en">
                <a:latin typeface="Be Vietnam Pro"/>
                <a:ea typeface="Be Vietnam Pro"/>
                <a:cs typeface="Be Vietnam Pro"/>
                <a:sym typeface="Be Vietnam Pro"/>
              </a:rPr>
              <a:t>Bazę dokumentó</a:t>
            </a:r>
            <a:r>
              <a:rPr b="1" lang="en">
                <a:latin typeface="Be Vietnam Pro"/>
                <a:ea typeface="Be Vietnam Pro"/>
                <a:cs typeface="Be Vietnam Pro"/>
                <a:sym typeface="Be Vietnam Pro"/>
              </a:rPr>
              <a:t>w</a:t>
            </a:r>
            <a:r>
              <a:rPr lang="en"/>
              <a:t> - Elastyczne przechowywanie danych JSON</a:t>
            </a:r>
            <a:endParaRPr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</a:t>
            </a:r>
            <a:r>
              <a:rPr b="1" lang="en">
                <a:latin typeface="Be Vietnam Pro"/>
                <a:ea typeface="Be Vietnam Pro"/>
                <a:cs typeface="Be Vietnam Pro"/>
                <a:sym typeface="Be Vietnam Pro"/>
              </a:rPr>
              <a:t>Bazę grafów</a:t>
            </a:r>
            <a:r>
              <a:rPr lang="en"/>
              <a:t> - Natywną obsługę relacji (jak Neo4j)</a:t>
            </a:r>
            <a:endParaRPr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</a:t>
            </a:r>
            <a:r>
              <a:rPr b="1" lang="en">
                <a:latin typeface="Be Vietnam Pro"/>
                <a:ea typeface="Be Vietnam Pro"/>
                <a:cs typeface="Be Vietnam Pro"/>
                <a:sym typeface="Be Vietnam Pro"/>
              </a:rPr>
              <a:t>Funkcje relacyjne</a:t>
            </a:r>
            <a:r>
              <a:rPr lang="en"/>
              <a:t> - Zapytania podobne do SQL z możliwościami grafów</a:t>
            </a:r>
            <a:endParaRPr/>
          </a:p>
        </p:txBody>
      </p:sp>
      <p:cxnSp>
        <p:nvCxnSpPr>
          <p:cNvPr id="150" name="Google Shape;150;p25"/>
          <p:cNvCxnSpPr/>
          <p:nvPr/>
        </p:nvCxnSpPr>
        <p:spPr>
          <a:xfrm>
            <a:off x="0" y="2792675"/>
            <a:ext cx="6319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1" name="Google Shape;151;p25"/>
          <p:cNvSpPr txBox="1"/>
          <p:nvPr/>
        </p:nvSpPr>
        <p:spPr>
          <a:xfrm>
            <a:off x="602850" y="1464525"/>
            <a:ext cx="2412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SurrealDB łączy</a:t>
            </a:r>
            <a:r>
              <a:rPr b="1" lang="en" sz="26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 </a:t>
            </a:r>
            <a:endParaRPr b="1" sz="40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</p:txBody>
      </p:sp>
      <p:sp>
        <p:nvSpPr>
          <p:cNvPr id="152" name="Google Shape;152;p25"/>
          <p:cNvSpPr txBox="1"/>
          <p:nvPr/>
        </p:nvSpPr>
        <p:spPr>
          <a:xfrm>
            <a:off x="749375" y="2988025"/>
            <a:ext cx="3000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Główne zalety</a:t>
            </a:r>
            <a:endParaRPr b="1" sz="40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</p:txBody>
      </p:sp>
      <p:sp>
        <p:nvSpPr>
          <p:cNvPr id="153" name="Google Shape;153;p25"/>
          <p:cNvSpPr txBox="1"/>
          <p:nvPr/>
        </p:nvSpPr>
        <p:spPr>
          <a:xfrm>
            <a:off x="749375" y="3603625"/>
            <a:ext cx="5455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Be Vietnam Pro Light"/>
                <a:ea typeface="Be Vietnam Pro Light"/>
                <a:cs typeface="Be Vietnam Pro Light"/>
                <a:sym typeface="Be Vietnam Pro Light"/>
              </a:rPr>
              <a:t>- </a:t>
            </a:r>
            <a:r>
              <a:rPr lang="en" sz="1200">
                <a:solidFill>
                  <a:schemeClr val="dk1"/>
                </a:solidFill>
                <a:latin typeface="Be Vietnam Pro Light"/>
                <a:ea typeface="Be Vietnam Pro Light"/>
                <a:cs typeface="Be Vietnam Pro Light"/>
                <a:sym typeface="Be Vietnam Pro Light"/>
              </a:rPr>
              <a:t>Pojedyncze zapytanie do złożonych przejść relacji</a:t>
            </a:r>
            <a:endParaRPr sz="1200">
              <a:solidFill>
                <a:schemeClr val="dk1"/>
              </a:solidFill>
              <a:latin typeface="Be Vietnam Pro Light"/>
              <a:ea typeface="Be Vietnam Pro Light"/>
              <a:cs typeface="Be Vietnam Pro Light"/>
              <a:sym typeface="Be Vietnam Pro Light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Be Vietnam Pro Light"/>
                <a:ea typeface="Be Vietnam Pro Light"/>
                <a:cs typeface="Be Vietnam Pro Light"/>
                <a:sym typeface="Be Vietnam Pro Light"/>
              </a:rPr>
              <a:t>- Bez schematów - brak konieczności migracji</a:t>
            </a:r>
            <a:endParaRPr sz="1200">
              <a:solidFill>
                <a:schemeClr val="dk1"/>
              </a:solidFill>
              <a:latin typeface="Be Vietnam Pro Light"/>
              <a:ea typeface="Be Vietnam Pro Light"/>
              <a:cs typeface="Be Vietnam Pro Light"/>
              <a:sym typeface="Be Vietnam Pro Light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Be Vietnam Pro Light"/>
                <a:ea typeface="Be Vietnam Pro Light"/>
                <a:cs typeface="Be Vietnam Pro Light"/>
                <a:sym typeface="Be Vietnam Pro Light"/>
              </a:rPr>
              <a:t>- Naturalna składnia: `RELATE` dla relacji</a:t>
            </a:r>
            <a:endParaRPr sz="1200">
              <a:solidFill>
                <a:schemeClr val="dk1"/>
              </a:solidFill>
              <a:latin typeface="Be Vietnam Pro Light"/>
              <a:ea typeface="Be Vietnam Pro Light"/>
              <a:cs typeface="Be Vietnam Pro Light"/>
              <a:sym typeface="Be Vietnam Pro Light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Be Vietnam Pro Light"/>
                <a:ea typeface="Be Vietnam Pro Light"/>
                <a:cs typeface="Be Vietnam Pro Light"/>
                <a:sym typeface="Be Vietnam Pro Light"/>
              </a:rPr>
              <a:t>- Wbudowane API REST</a:t>
            </a:r>
            <a:endParaRPr sz="1200">
              <a:solidFill>
                <a:schemeClr val="dk1"/>
              </a:solidFill>
              <a:latin typeface="Be Vietnam Pro Light"/>
              <a:ea typeface="Be Vietnam Pro Light"/>
              <a:cs typeface="Be Vietnam Pro Light"/>
              <a:sym typeface="Be Vietnam Pro Ligh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6"/>
          <p:cNvSpPr txBox="1"/>
          <p:nvPr>
            <p:ph type="title"/>
          </p:nvPr>
        </p:nvSpPr>
        <p:spPr>
          <a:xfrm>
            <a:off x="228450" y="845525"/>
            <a:ext cx="7772700" cy="172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Architektura projektu</a:t>
            </a:r>
            <a:endParaRPr/>
          </a:p>
        </p:txBody>
      </p:sp>
      <p:sp>
        <p:nvSpPr>
          <p:cNvPr id="159" name="Google Shape;159;p26"/>
          <p:cNvSpPr txBox="1"/>
          <p:nvPr>
            <p:ph idx="1" type="subTitle"/>
          </p:nvPr>
        </p:nvSpPr>
        <p:spPr>
          <a:xfrm>
            <a:off x="2840500" y="2146200"/>
            <a:ext cx="2289000" cy="85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Be Vietnam Pro"/>
                <a:ea typeface="Be Vietnam Pro"/>
                <a:cs typeface="Be Vietnam Pro"/>
                <a:sym typeface="Be Vietnam Pro"/>
              </a:rPr>
              <a:t>Uruchomienie </a:t>
            </a:r>
            <a:r>
              <a:rPr lang="en"/>
              <a:t>projektu:</a:t>
            </a:r>
            <a:br>
              <a:rPr lang="en"/>
            </a:b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docker compose up</a:t>
            </a:r>
            <a:endParaRPr/>
          </a:p>
        </p:txBody>
      </p:sp>
      <p:sp>
        <p:nvSpPr>
          <p:cNvPr id="160" name="Google Shape;160;p26"/>
          <p:cNvSpPr txBox="1"/>
          <p:nvPr>
            <p:ph idx="2" type="subTitle"/>
          </p:nvPr>
        </p:nvSpPr>
        <p:spPr>
          <a:xfrm>
            <a:off x="2840500" y="3441225"/>
            <a:ext cx="5677800" cy="147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</a:t>
            </a:r>
            <a:r>
              <a:rPr lang="en"/>
              <a:t>T</a:t>
            </a:r>
            <a:r>
              <a:rPr lang="en"/>
              <a:t>TP </a:t>
            </a:r>
            <a:r>
              <a:rPr b="1" lang="en">
                <a:latin typeface="Be Vietnam Pro"/>
                <a:ea typeface="Be Vietnam Pro"/>
                <a:cs typeface="Be Vietnam Pro"/>
                <a:sym typeface="Be Vietnam Pro"/>
              </a:rPr>
              <a:t>POST </a:t>
            </a:r>
            <a:r>
              <a:rPr lang="en"/>
              <a:t>do endpoint’u `/sql` zwraca treść JSON: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"status": "OK",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"result": [/* wyniki zapytania: tablice rekordów, obiektów lub wartości */]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1" name="Google Shape;161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9200" y="1521100"/>
            <a:ext cx="1907750" cy="3149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3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7"/>
          <p:cNvSpPr txBox="1"/>
          <p:nvPr>
            <p:ph type="title"/>
          </p:nvPr>
        </p:nvSpPr>
        <p:spPr>
          <a:xfrm>
            <a:off x="228600" y="228600"/>
            <a:ext cx="8686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/>
              <a:t>MODEL </a:t>
            </a:r>
            <a:r>
              <a:rPr lang="en"/>
              <a:t>DANYCH</a:t>
            </a:r>
            <a:endParaRPr b="0"/>
          </a:p>
        </p:txBody>
      </p:sp>
      <p:sp>
        <p:nvSpPr>
          <p:cNvPr id="167" name="Google Shape;167;p27"/>
          <p:cNvSpPr txBox="1"/>
          <p:nvPr/>
        </p:nvSpPr>
        <p:spPr>
          <a:xfrm>
            <a:off x="1577700" y="1844675"/>
            <a:ext cx="2874300" cy="7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ENCJE</a:t>
            </a:r>
            <a:endParaRPr b="1" sz="1100">
              <a:solidFill>
                <a:schemeClr val="dk1"/>
              </a:solidFill>
              <a:latin typeface="Be Vietnam Pro"/>
              <a:ea typeface="Be Vietnam Pro"/>
              <a:cs typeface="Be Vietnam Pro"/>
              <a:sym typeface="Be Vietnam Pro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user</a:t>
            </a:r>
            <a:r>
              <a:rPr lang="en" sz="1100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 - Informacje o użytkowniku </a:t>
            </a:r>
            <a:endParaRPr sz="1100">
              <a:solidFill>
                <a:schemeClr val="dk1"/>
              </a:solidFill>
              <a:latin typeface="Be Vietnam Pro"/>
              <a:ea typeface="Be Vietnam Pro"/>
              <a:cs typeface="Be Vietnam Pro"/>
              <a:sym typeface="Be Vietnam Pro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movie</a:t>
            </a:r>
            <a:r>
              <a:rPr lang="en" sz="1100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 - Szczegóły filmu </a:t>
            </a:r>
            <a:endParaRPr sz="1100">
              <a:solidFill>
                <a:schemeClr val="dk1"/>
              </a:solidFill>
              <a:latin typeface="Be Vietnam Pro"/>
              <a:ea typeface="Be Vietnam Pro"/>
              <a:cs typeface="Be Vietnam Pro"/>
              <a:sym typeface="Be Vietnam Pro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genre</a:t>
            </a:r>
            <a:r>
              <a:rPr lang="en" sz="1100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 - Kategorie gatunków</a:t>
            </a:r>
            <a:endParaRPr sz="1100">
              <a:solidFill>
                <a:schemeClr val="dk1"/>
              </a:solidFill>
              <a:latin typeface="Be Vietnam Pro"/>
              <a:ea typeface="Be Vietnam Pro"/>
              <a:cs typeface="Be Vietnam Pro"/>
              <a:sym typeface="Be Vietnam Pro"/>
            </a:endParaRPr>
          </a:p>
        </p:txBody>
      </p:sp>
      <p:sp>
        <p:nvSpPr>
          <p:cNvPr id="168" name="Google Shape;168;p27"/>
          <p:cNvSpPr/>
          <p:nvPr/>
        </p:nvSpPr>
        <p:spPr>
          <a:xfrm>
            <a:off x="2170050" y="1380100"/>
            <a:ext cx="1689600" cy="405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 u="sng">
                <a:solidFill>
                  <a:schemeClr val="dk2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STRUKTURA GRAFU</a:t>
            </a:r>
            <a:endParaRPr b="1" sz="1100" u="sng">
              <a:solidFill>
                <a:schemeClr val="dk2"/>
              </a:solidFill>
              <a:latin typeface="Be Vietnam Pro"/>
              <a:ea typeface="Be Vietnam Pro"/>
              <a:cs typeface="Be Vietnam Pro"/>
              <a:sym typeface="Be Vietnam Pro"/>
            </a:endParaRPr>
          </a:p>
        </p:txBody>
      </p:sp>
      <p:sp>
        <p:nvSpPr>
          <p:cNvPr id="169" name="Google Shape;169;p27"/>
          <p:cNvSpPr/>
          <p:nvPr/>
        </p:nvSpPr>
        <p:spPr>
          <a:xfrm>
            <a:off x="0" y="4848125"/>
            <a:ext cx="9144000" cy="3420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pic>
        <p:nvPicPr>
          <p:cNvPr id="170" name="Google Shape;170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06800" y="4953325"/>
            <a:ext cx="861701" cy="131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7"/>
          <p:cNvSpPr/>
          <p:nvPr/>
        </p:nvSpPr>
        <p:spPr>
          <a:xfrm>
            <a:off x="5148288" y="1380111"/>
            <a:ext cx="1371900" cy="405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 u="sng">
                <a:solidFill>
                  <a:schemeClr val="dk2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RELACJE</a:t>
            </a:r>
            <a:endParaRPr b="1" sz="1100" u="sng">
              <a:solidFill>
                <a:schemeClr val="dk2"/>
              </a:solidFill>
              <a:latin typeface="Be Vietnam Pro"/>
              <a:ea typeface="Be Vietnam Pro"/>
              <a:cs typeface="Be Vietnam Pro"/>
              <a:sym typeface="Be Vietnam Pro"/>
            </a:endParaRPr>
          </a:p>
        </p:txBody>
      </p:sp>
      <p:sp>
        <p:nvSpPr>
          <p:cNvPr id="172" name="Google Shape;172;p27"/>
          <p:cNvSpPr/>
          <p:nvPr/>
        </p:nvSpPr>
        <p:spPr>
          <a:xfrm>
            <a:off x="3657451" y="3529649"/>
            <a:ext cx="1371900" cy="405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 u="sng">
                <a:solidFill>
                  <a:schemeClr val="dk2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PRZYKŁAD</a:t>
            </a:r>
            <a:endParaRPr b="1" sz="1100" u="sng">
              <a:solidFill>
                <a:schemeClr val="dk2"/>
              </a:solidFill>
              <a:latin typeface="Be Vietnam Pro"/>
              <a:ea typeface="Be Vietnam Pro"/>
              <a:cs typeface="Be Vietnam Pro"/>
              <a:sym typeface="Be Vietnam Pro"/>
            </a:endParaRPr>
          </a:p>
        </p:txBody>
      </p:sp>
      <p:sp>
        <p:nvSpPr>
          <p:cNvPr id="173" name="Google Shape;173;p27"/>
          <p:cNvSpPr txBox="1"/>
          <p:nvPr/>
        </p:nvSpPr>
        <p:spPr>
          <a:xfrm>
            <a:off x="2385000" y="3996875"/>
            <a:ext cx="3916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user</a:t>
            </a:r>
            <a:r>
              <a:rPr lang="en" sz="1000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:oskar --[rated: score=9]--&gt; </a:t>
            </a:r>
            <a:r>
              <a:rPr b="1" lang="en" sz="1000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movie</a:t>
            </a:r>
            <a:r>
              <a:rPr lang="en" sz="1000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:inception</a:t>
            </a:r>
            <a:endParaRPr sz="1000">
              <a:solidFill>
                <a:schemeClr val="dk1"/>
              </a:solidFill>
              <a:latin typeface="Be Vietnam Pro"/>
              <a:ea typeface="Be Vietnam Pro"/>
              <a:cs typeface="Be Vietnam Pro"/>
              <a:sym typeface="Be Vietnam Pro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movie</a:t>
            </a:r>
            <a:r>
              <a:rPr lang="en" sz="1000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:inception --[belongs_to]--&gt; </a:t>
            </a:r>
            <a:r>
              <a:rPr b="1" lang="en" sz="1000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genre</a:t>
            </a:r>
            <a:r>
              <a:rPr lang="en" sz="1000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:sci_fi</a:t>
            </a:r>
            <a:endParaRPr sz="1000">
              <a:solidFill>
                <a:schemeClr val="dk1"/>
              </a:solidFill>
              <a:latin typeface="Be Vietnam Pro"/>
              <a:ea typeface="Be Vietnam Pro"/>
              <a:cs typeface="Be Vietnam Pro"/>
              <a:sym typeface="Be Vietnam Pro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Be Vietnam Pro"/>
              <a:ea typeface="Be Vietnam Pro"/>
              <a:cs typeface="Be Vietnam Pro"/>
              <a:sym typeface="Be Vietnam Pro"/>
            </a:endParaRPr>
          </a:p>
        </p:txBody>
      </p:sp>
      <p:cxnSp>
        <p:nvCxnSpPr>
          <p:cNvPr id="174" name="Google Shape;174;p27"/>
          <p:cNvCxnSpPr/>
          <p:nvPr/>
        </p:nvCxnSpPr>
        <p:spPr>
          <a:xfrm>
            <a:off x="0" y="3074113"/>
            <a:ext cx="8686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75" name="Google Shape;175;p27"/>
          <p:cNvGrpSpPr/>
          <p:nvPr/>
        </p:nvGrpSpPr>
        <p:grpSpPr>
          <a:xfrm>
            <a:off x="2894063" y="1079855"/>
            <a:ext cx="241571" cy="241571"/>
            <a:chOff x="2605901" y="2903117"/>
            <a:chExt cx="241571" cy="241571"/>
          </a:xfrm>
        </p:grpSpPr>
        <p:sp>
          <p:nvSpPr>
            <p:cNvPr id="176" name="Google Shape;176;p27"/>
            <p:cNvSpPr/>
            <p:nvPr/>
          </p:nvSpPr>
          <p:spPr>
            <a:xfrm>
              <a:off x="2696488" y="2998051"/>
              <a:ext cx="47106" cy="95219"/>
            </a:xfrm>
            <a:custGeom>
              <a:rect b="b" l="l" r="r" t="t"/>
              <a:pathLst>
                <a:path extrusionOk="0" h="268222" w="132693">
                  <a:moveTo>
                    <a:pt x="99520" y="268223"/>
                  </a:moveTo>
                  <a:cubicBezTo>
                    <a:pt x="81091" y="268223"/>
                    <a:pt x="66347" y="253479"/>
                    <a:pt x="66347" y="235050"/>
                  </a:cubicBezTo>
                  <a:lnTo>
                    <a:pt x="66347" y="66347"/>
                  </a:lnTo>
                  <a:lnTo>
                    <a:pt x="33173" y="66347"/>
                  </a:lnTo>
                  <a:cubicBezTo>
                    <a:pt x="14744" y="66347"/>
                    <a:pt x="0" y="51603"/>
                    <a:pt x="0" y="33173"/>
                  </a:cubicBezTo>
                  <a:cubicBezTo>
                    <a:pt x="0" y="14744"/>
                    <a:pt x="14744" y="0"/>
                    <a:pt x="33173" y="0"/>
                  </a:cubicBezTo>
                  <a:lnTo>
                    <a:pt x="99520" y="0"/>
                  </a:lnTo>
                  <a:cubicBezTo>
                    <a:pt x="117950" y="0"/>
                    <a:pt x="132694" y="14744"/>
                    <a:pt x="132694" y="33173"/>
                  </a:cubicBezTo>
                  <a:lnTo>
                    <a:pt x="132694" y="235050"/>
                  </a:lnTo>
                  <a:cubicBezTo>
                    <a:pt x="132694" y="253479"/>
                    <a:pt x="117950" y="268223"/>
                    <a:pt x="99520" y="26822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" name="Google Shape;177;p27"/>
            <p:cNvSpPr/>
            <p:nvPr/>
          </p:nvSpPr>
          <p:spPr>
            <a:xfrm>
              <a:off x="2712967" y="2955285"/>
              <a:ext cx="28384" cy="28384"/>
            </a:xfrm>
            <a:custGeom>
              <a:rect b="b" l="l" r="r" t="t"/>
              <a:pathLst>
                <a:path extrusionOk="0" h="79956" w="79956">
                  <a:moveTo>
                    <a:pt x="0" y="39978"/>
                  </a:moveTo>
                  <a:cubicBezTo>
                    <a:pt x="0" y="62094"/>
                    <a:pt x="17863" y="79957"/>
                    <a:pt x="39978" y="79957"/>
                  </a:cubicBezTo>
                  <a:cubicBezTo>
                    <a:pt x="62094" y="79957"/>
                    <a:pt x="79957" y="62094"/>
                    <a:pt x="79957" y="39978"/>
                  </a:cubicBezTo>
                  <a:cubicBezTo>
                    <a:pt x="79957" y="17863"/>
                    <a:pt x="62094" y="0"/>
                    <a:pt x="39978" y="0"/>
                  </a:cubicBezTo>
                  <a:cubicBezTo>
                    <a:pt x="17863" y="0"/>
                    <a:pt x="0" y="17863"/>
                    <a:pt x="0" y="3997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" name="Google Shape;178;p27"/>
            <p:cNvSpPr/>
            <p:nvPr/>
          </p:nvSpPr>
          <p:spPr>
            <a:xfrm>
              <a:off x="2605901" y="2903117"/>
              <a:ext cx="241571" cy="241571"/>
            </a:xfrm>
            <a:custGeom>
              <a:rect b="b" l="l" r="r" t="t"/>
              <a:pathLst>
                <a:path extrusionOk="0" h="680481" w="680481">
                  <a:moveTo>
                    <a:pt x="99520" y="580961"/>
                  </a:moveTo>
                  <a:cubicBezTo>
                    <a:pt x="163883" y="645323"/>
                    <a:pt x="249226" y="680481"/>
                    <a:pt x="340241" y="680481"/>
                  </a:cubicBezTo>
                  <a:cubicBezTo>
                    <a:pt x="431255" y="680481"/>
                    <a:pt x="516599" y="645040"/>
                    <a:pt x="580961" y="580961"/>
                  </a:cubicBezTo>
                  <a:cubicBezTo>
                    <a:pt x="645323" y="516882"/>
                    <a:pt x="680481" y="431255"/>
                    <a:pt x="680481" y="340241"/>
                  </a:cubicBezTo>
                  <a:cubicBezTo>
                    <a:pt x="680481" y="249226"/>
                    <a:pt x="645039" y="163883"/>
                    <a:pt x="580961" y="99520"/>
                  </a:cubicBezTo>
                  <a:cubicBezTo>
                    <a:pt x="516599" y="35158"/>
                    <a:pt x="431255" y="0"/>
                    <a:pt x="340241" y="0"/>
                  </a:cubicBezTo>
                  <a:cubicBezTo>
                    <a:pt x="249226" y="0"/>
                    <a:pt x="163883" y="35442"/>
                    <a:pt x="99520" y="99520"/>
                  </a:cubicBezTo>
                  <a:cubicBezTo>
                    <a:pt x="35158" y="163883"/>
                    <a:pt x="0" y="249226"/>
                    <a:pt x="0" y="340241"/>
                  </a:cubicBezTo>
                  <a:cubicBezTo>
                    <a:pt x="0" y="431255"/>
                    <a:pt x="35442" y="516599"/>
                    <a:pt x="99520" y="580961"/>
                  </a:cubicBezTo>
                  <a:close/>
                  <a:moveTo>
                    <a:pt x="66347" y="340524"/>
                  </a:moveTo>
                  <a:cubicBezTo>
                    <a:pt x="66347" y="189684"/>
                    <a:pt x="189117" y="66631"/>
                    <a:pt x="340241" y="66631"/>
                  </a:cubicBezTo>
                  <a:cubicBezTo>
                    <a:pt x="491364" y="66631"/>
                    <a:pt x="614134" y="189401"/>
                    <a:pt x="614134" y="340524"/>
                  </a:cubicBezTo>
                  <a:cubicBezTo>
                    <a:pt x="614134" y="491648"/>
                    <a:pt x="491364" y="614418"/>
                    <a:pt x="340241" y="614418"/>
                  </a:cubicBezTo>
                  <a:cubicBezTo>
                    <a:pt x="189117" y="614418"/>
                    <a:pt x="66347" y="491648"/>
                    <a:pt x="66347" y="34052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9" name="Google Shape;179;p27"/>
          <p:cNvGrpSpPr/>
          <p:nvPr/>
        </p:nvGrpSpPr>
        <p:grpSpPr>
          <a:xfrm>
            <a:off x="4222780" y="3227236"/>
            <a:ext cx="241240" cy="241096"/>
            <a:chOff x="3049130" y="3364261"/>
            <a:chExt cx="241240" cy="241096"/>
          </a:xfrm>
        </p:grpSpPr>
        <p:sp>
          <p:nvSpPr>
            <p:cNvPr id="180" name="Google Shape;180;p27"/>
            <p:cNvSpPr/>
            <p:nvPr/>
          </p:nvSpPr>
          <p:spPr>
            <a:xfrm>
              <a:off x="3093918" y="3364261"/>
              <a:ext cx="196452" cy="196452"/>
            </a:xfrm>
            <a:custGeom>
              <a:rect b="b" l="l" r="r" t="t"/>
              <a:pathLst>
                <a:path extrusionOk="0" h="553387" w="553387">
                  <a:moveTo>
                    <a:pt x="133544" y="553387"/>
                  </a:moveTo>
                  <a:lnTo>
                    <a:pt x="34875" y="553387"/>
                  </a:lnTo>
                  <a:cubicBezTo>
                    <a:pt x="15594" y="553387"/>
                    <a:pt x="0" y="537793"/>
                    <a:pt x="0" y="518512"/>
                  </a:cubicBezTo>
                  <a:lnTo>
                    <a:pt x="0" y="419843"/>
                  </a:lnTo>
                  <a:cubicBezTo>
                    <a:pt x="0" y="410486"/>
                    <a:pt x="3686" y="401697"/>
                    <a:pt x="10207" y="395175"/>
                  </a:cubicBezTo>
                  <a:lnTo>
                    <a:pt x="378801" y="26581"/>
                  </a:lnTo>
                  <a:cubicBezTo>
                    <a:pt x="414243" y="-8860"/>
                    <a:pt x="471517" y="-8860"/>
                    <a:pt x="506959" y="26581"/>
                  </a:cubicBezTo>
                  <a:lnTo>
                    <a:pt x="526806" y="46429"/>
                  </a:lnTo>
                  <a:cubicBezTo>
                    <a:pt x="562248" y="81871"/>
                    <a:pt x="562248" y="139144"/>
                    <a:pt x="526806" y="174586"/>
                  </a:cubicBezTo>
                  <a:lnTo>
                    <a:pt x="158212" y="543180"/>
                  </a:lnTo>
                  <a:cubicBezTo>
                    <a:pt x="151691" y="549701"/>
                    <a:pt x="142901" y="553387"/>
                    <a:pt x="133544" y="553387"/>
                  </a:cubicBezTo>
                  <a:close/>
                  <a:moveTo>
                    <a:pt x="69749" y="483638"/>
                  </a:moveTo>
                  <a:lnTo>
                    <a:pt x="119084" y="483638"/>
                  </a:lnTo>
                  <a:lnTo>
                    <a:pt x="477471" y="125251"/>
                  </a:lnTo>
                  <a:cubicBezTo>
                    <a:pt x="485693" y="117029"/>
                    <a:pt x="485693" y="103703"/>
                    <a:pt x="477471" y="95764"/>
                  </a:cubicBezTo>
                  <a:lnTo>
                    <a:pt x="457624" y="75916"/>
                  </a:lnTo>
                  <a:cubicBezTo>
                    <a:pt x="449401" y="67694"/>
                    <a:pt x="436075" y="67694"/>
                    <a:pt x="428136" y="75916"/>
                  </a:cubicBezTo>
                  <a:lnTo>
                    <a:pt x="69749" y="434303"/>
                  </a:lnTo>
                  <a:lnTo>
                    <a:pt x="69749" y="48363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" name="Google Shape;181;p27"/>
            <p:cNvSpPr/>
            <p:nvPr/>
          </p:nvSpPr>
          <p:spPr>
            <a:xfrm>
              <a:off x="3049130" y="3376570"/>
              <a:ext cx="228788" cy="228788"/>
            </a:xfrm>
            <a:custGeom>
              <a:rect b="b" l="l" r="r" t="t"/>
              <a:pathLst>
                <a:path extrusionOk="0" h="644472" w="644472">
                  <a:moveTo>
                    <a:pt x="574723" y="553742"/>
                  </a:moveTo>
                  <a:lnTo>
                    <a:pt x="574723" y="296577"/>
                  </a:lnTo>
                  <a:lnTo>
                    <a:pt x="644472" y="226827"/>
                  </a:lnTo>
                  <a:lnTo>
                    <a:pt x="644472" y="553742"/>
                  </a:lnTo>
                  <a:cubicBezTo>
                    <a:pt x="644472" y="603927"/>
                    <a:pt x="603927" y="644472"/>
                    <a:pt x="553742" y="644472"/>
                  </a:cubicBezTo>
                  <a:lnTo>
                    <a:pt x="90731" y="644472"/>
                  </a:lnTo>
                  <a:cubicBezTo>
                    <a:pt x="40545" y="644472"/>
                    <a:pt x="0" y="603927"/>
                    <a:pt x="0" y="553742"/>
                  </a:cubicBezTo>
                  <a:lnTo>
                    <a:pt x="0" y="90731"/>
                  </a:lnTo>
                  <a:cubicBezTo>
                    <a:pt x="0" y="40545"/>
                    <a:pt x="40545" y="0"/>
                    <a:pt x="90731" y="0"/>
                  </a:cubicBezTo>
                  <a:lnTo>
                    <a:pt x="417645" y="0"/>
                  </a:lnTo>
                  <a:lnTo>
                    <a:pt x="347896" y="69750"/>
                  </a:lnTo>
                  <a:lnTo>
                    <a:pt x="90731" y="69750"/>
                  </a:lnTo>
                  <a:cubicBezTo>
                    <a:pt x="79106" y="69750"/>
                    <a:pt x="69749" y="79106"/>
                    <a:pt x="69749" y="90731"/>
                  </a:cubicBezTo>
                  <a:lnTo>
                    <a:pt x="69749" y="553742"/>
                  </a:lnTo>
                  <a:cubicBezTo>
                    <a:pt x="69749" y="565367"/>
                    <a:pt x="79106" y="574723"/>
                    <a:pt x="90731" y="574723"/>
                  </a:cubicBezTo>
                  <a:lnTo>
                    <a:pt x="553742" y="574723"/>
                  </a:lnTo>
                  <a:cubicBezTo>
                    <a:pt x="565366" y="574723"/>
                    <a:pt x="574723" y="565367"/>
                    <a:pt x="574723" y="55374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82" name="Google Shape;182;p27"/>
          <p:cNvCxnSpPr/>
          <p:nvPr/>
        </p:nvCxnSpPr>
        <p:spPr>
          <a:xfrm>
            <a:off x="8688225" y="-94200"/>
            <a:ext cx="0" cy="5331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3" name="Google Shape;183;p27"/>
          <p:cNvSpPr txBox="1"/>
          <p:nvPr/>
        </p:nvSpPr>
        <p:spPr>
          <a:xfrm>
            <a:off x="4559400" y="1786025"/>
            <a:ext cx="2549700" cy="10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KRAWĘDZIE</a:t>
            </a:r>
            <a:endParaRPr b="1" sz="1100">
              <a:solidFill>
                <a:schemeClr val="dk1"/>
              </a:solidFill>
              <a:latin typeface="Be Vietnam Pro"/>
              <a:ea typeface="Be Vietnam Pro"/>
              <a:cs typeface="Be Vietnam Pro"/>
              <a:sym typeface="Be Vietnam Pro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user</a:t>
            </a:r>
            <a:r>
              <a:rPr i="1" lang="en" sz="1100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-&gt;</a:t>
            </a:r>
            <a:r>
              <a:rPr b="1" lang="en" sz="1100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rated</a:t>
            </a:r>
            <a:r>
              <a:rPr i="1" lang="en" sz="1100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-&gt;</a:t>
            </a:r>
            <a:r>
              <a:rPr b="1" lang="en" sz="1100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movie</a:t>
            </a:r>
            <a:br>
              <a:rPr b="1" lang="en" sz="1100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rPr>
            </a:br>
            <a:r>
              <a:rPr lang="en" sz="1100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Użytkownik ocenia film </a:t>
            </a:r>
            <a:endParaRPr sz="1100">
              <a:solidFill>
                <a:schemeClr val="dk1"/>
              </a:solidFill>
              <a:latin typeface="Be Vietnam Pro"/>
              <a:ea typeface="Be Vietnam Pro"/>
              <a:cs typeface="Be Vietnam Pro"/>
              <a:sym typeface="Be Vietnam Pro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movie</a:t>
            </a:r>
            <a:r>
              <a:rPr i="1" lang="en" sz="1100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-&gt;</a:t>
            </a:r>
            <a:r>
              <a:rPr b="1" lang="en" sz="1100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belongs_to</a:t>
            </a:r>
            <a:r>
              <a:rPr i="1" lang="en" sz="1100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-&gt;</a:t>
            </a:r>
            <a:r>
              <a:rPr b="1" lang="en" sz="1100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genre</a:t>
            </a:r>
            <a:br>
              <a:rPr b="1" lang="en" sz="1100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rPr>
            </a:br>
            <a:r>
              <a:rPr lang="en" sz="1100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Film należy do gatunków</a:t>
            </a:r>
            <a:endParaRPr sz="1100">
              <a:solidFill>
                <a:schemeClr val="dk1"/>
              </a:solidFill>
              <a:latin typeface="Be Vietnam Pro"/>
              <a:ea typeface="Be Vietnam Pro"/>
              <a:cs typeface="Be Vietnam Pro"/>
              <a:sym typeface="Be Vietnam Pro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  <a:latin typeface="Be Vietnam Pro"/>
              <a:ea typeface="Be Vietnam Pro"/>
              <a:cs typeface="Be Vietnam Pro"/>
              <a:sym typeface="Be Vietnam Pro"/>
            </a:endParaRPr>
          </a:p>
        </p:txBody>
      </p:sp>
      <p:sp>
        <p:nvSpPr>
          <p:cNvPr id="184" name="Google Shape;184;p27"/>
          <p:cNvSpPr/>
          <p:nvPr/>
        </p:nvSpPr>
        <p:spPr>
          <a:xfrm>
            <a:off x="5719799" y="1089514"/>
            <a:ext cx="228895" cy="222245"/>
          </a:xfrm>
          <a:custGeom>
            <a:rect b="b" l="l" r="r" t="t"/>
            <a:pathLst>
              <a:path extrusionOk="0" h="626042" w="644775">
                <a:moveTo>
                  <a:pt x="425301" y="280415"/>
                </a:moveTo>
                <a:lnTo>
                  <a:pt x="552891" y="280415"/>
                </a:lnTo>
                <a:cubicBezTo>
                  <a:pt x="593153" y="280415"/>
                  <a:pt x="626043" y="247525"/>
                  <a:pt x="626043" y="207263"/>
                </a:cubicBezTo>
                <a:lnTo>
                  <a:pt x="626043" y="79673"/>
                </a:lnTo>
                <a:cubicBezTo>
                  <a:pt x="626043" y="39411"/>
                  <a:pt x="593153" y="6521"/>
                  <a:pt x="552891" y="6521"/>
                </a:cubicBezTo>
                <a:lnTo>
                  <a:pt x="425301" y="6521"/>
                </a:lnTo>
                <a:cubicBezTo>
                  <a:pt x="385039" y="6521"/>
                  <a:pt x="352149" y="39411"/>
                  <a:pt x="352149" y="79673"/>
                </a:cubicBezTo>
                <a:lnTo>
                  <a:pt x="352149" y="207263"/>
                </a:lnTo>
                <a:cubicBezTo>
                  <a:pt x="352149" y="247525"/>
                  <a:pt x="385039" y="280415"/>
                  <a:pt x="425301" y="280415"/>
                </a:cubicBezTo>
                <a:close/>
                <a:moveTo>
                  <a:pt x="418779" y="79673"/>
                </a:moveTo>
                <a:cubicBezTo>
                  <a:pt x="418779" y="75987"/>
                  <a:pt x="421898" y="73152"/>
                  <a:pt x="425301" y="73152"/>
                </a:cubicBezTo>
                <a:lnTo>
                  <a:pt x="552891" y="73152"/>
                </a:lnTo>
                <a:cubicBezTo>
                  <a:pt x="556577" y="73152"/>
                  <a:pt x="559412" y="76271"/>
                  <a:pt x="559412" y="79673"/>
                </a:cubicBezTo>
                <a:lnTo>
                  <a:pt x="559412" y="207263"/>
                </a:lnTo>
                <a:cubicBezTo>
                  <a:pt x="559412" y="210949"/>
                  <a:pt x="556293" y="213784"/>
                  <a:pt x="552891" y="213784"/>
                </a:cubicBezTo>
                <a:lnTo>
                  <a:pt x="425301" y="213784"/>
                </a:lnTo>
                <a:cubicBezTo>
                  <a:pt x="421615" y="213784"/>
                  <a:pt x="418779" y="210666"/>
                  <a:pt x="418779" y="207263"/>
                </a:cubicBezTo>
                <a:lnTo>
                  <a:pt x="418779" y="79673"/>
                </a:lnTo>
                <a:close/>
                <a:moveTo>
                  <a:pt x="204711" y="352149"/>
                </a:moveTo>
                <a:lnTo>
                  <a:pt x="77121" y="352149"/>
                </a:lnTo>
                <a:cubicBezTo>
                  <a:pt x="36859" y="352149"/>
                  <a:pt x="3969" y="385039"/>
                  <a:pt x="3969" y="425301"/>
                </a:cubicBezTo>
                <a:lnTo>
                  <a:pt x="3969" y="552891"/>
                </a:lnTo>
                <a:cubicBezTo>
                  <a:pt x="3969" y="593153"/>
                  <a:pt x="36859" y="626043"/>
                  <a:pt x="77121" y="626043"/>
                </a:cubicBezTo>
                <a:lnTo>
                  <a:pt x="204711" y="626043"/>
                </a:lnTo>
                <a:cubicBezTo>
                  <a:pt x="244973" y="626043"/>
                  <a:pt x="277863" y="593153"/>
                  <a:pt x="277863" y="552891"/>
                </a:cubicBezTo>
                <a:lnTo>
                  <a:pt x="277863" y="425301"/>
                </a:lnTo>
                <a:cubicBezTo>
                  <a:pt x="277863" y="385039"/>
                  <a:pt x="244973" y="352149"/>
                  <a:pt x="204711" y="352149"/>
                </a:cubicBezTo>
                <a:close/>
                <a:moveTo>
                  <a:pt x="211516" y="552891"/>
                </a:moveTo>
                <a:cubicBezTo>
                  <a:pt x="211516" y="556577"/>
                  <a:pt x="208681" y="559412"/>
                  <a:pt x="204995" y="559412"/>
                </a:cubicBezTo>
                <a:lnTo>
                  <a:pt x="77405" y="559412"/>
                </a:lnTo>
                <a:cubicBezTo>
                  <a:pt x="73719" y="559412"/>
                  <a:pt x="70883" y="556577"/>
                  <a:pt x="70883" y="552891"/>
                </a:cubicBezTo>
                <a:lnTo>
                  <a:pt x="70883" y="425301"/>
                </a:lnTo>
                <a:cubicBezTo>
                  <a:pt x="70883" y="421615"/>
                  <a:pt x="74002" y="418779"/>
                  <a:pt x="77405" y="418779"/>
                </a:cubicBezTo>
                <a:lnTo>
                  <a:pt x="204995" y="418779"/>
                </a:lnTo>
                <a:cubicBezTo>
                  <a:pt x="208681" y="418779"/>
                  <a:pt x="211516" y="421898"/>
                  <a:pt x="211516" y="425301"/>
                </a:cubicBezTo>
                <a:lnTo>
                  <a:pt x="211516" y="552891"/>
                </a:lnTo>
                <a:close/>
                <a:moveTo>
                  <a:pt x="143468" y="0"/>
                </a:moveTo>
                <a:cubicBezTo>
                  <a:pt x="64362" y="0"/>
                  <a:pt x="0" y="64362"/>
                  <a:pt x="0" y="143468"/>
                </a:cubicBezTo>
                <a:cubicBezTo>
                  <a:pt x="0" y="222574"/>
                  <a:pt x="64362" y="286936"/>
                  <a:pt x="143468" y="286936"/>
                </a:cubicBezTo>
                <a:cubicBezTo>
                  <a:pt x="222574" y="286936"/>
                  <a:pt x="286936" y="222574"/>
                  <a:pt x="286936" y="143468"/>
                </a:cubicBezTo>
                <a:cubicBezTo>
                  <a:pt x="286936" y="64362"/>
                  <a:pt x="222574" y="0"/>
                  <a:pt x="143468" y="0"/>
                </a:cubicBezTo>
                <a:close/>
                <a:moveTo>
                  <a:pt x="143468" y="220589"/>
                </a:moveTo>
                <a:cubicBezTo>
                  <a:pt x="100938" y="220589"/>
                  <a:pt x="66347" y="185998"/>
                  <a:pt x="66347" y="143468"/>
                </a:cubicBezTo>
                <a:cubicBezTo>
                  <a:pt x="66347" y="100938"/>
                  <a:pt x="100938" y="66347"/>
                  <a:pt x="143468" y="66347"/>
                </a:cubicBezTo>
                <a:cubicBezTo>
                  <a:pt x="185998" y="66347"/>
                  <a:pt x="220589" y="100938"/>
                  <a:pt x="220589" y="143468"/>
                </a:cubicBezTo>
                <a:cubicBezTo>
                  <a:pt x="220589" y="185998"/>
                  <a:pt x="185998" y="220589"/>
                  <a:pt x="143468" y="220589"/>
                </a:cubicBezTo>
                <a:close/>
                <a:moveTo>
                  <a:pt x="634265" y="518583"/>
                </a:moveTo>
                <a:lnTo>
                  <a:pt x="544952" y="374548"/>
                </a:lnTo>
                <a:cubicBezTo>
                  <a:pt x="532477" y="354701"/>
                  <a:pt x="511211" y="342792"/>
                  <a:pt x="487678" y="342792"/>
                </a:cubicBezTo>
                <a:cubicBezTo>
                  <a:pt x="464145" y="342792"/>
                  <a:pt x="442880" y="354701"/>
                  <a:pt x="430404" y="374548"/>
                </a:cubicBezTo>
                <a:lnTo>
                  <a:pt x="341091" y="518583"/>
                </a:lnTo>
                <a:cubicBezTo>
                  <a:pt x="328048" y="539565"/>
                  <a:pt x="327481" y="565650"/>
                  <a:pt x="339390" y="587199"/>
                </a:cubicBezTo>
                <a:cubicBezTo>
                  <a:pt x="351298" y="608464"/>
                  <a:pt x="373697" y="621790"/>
                  <a:pt x="398365" y="621790"/>
                </a:cubicBezTo>
                <a:lnTo>
                  <a:pt x="577275" y="621790"/>
                </a:lnTo>
                <a:cubicBezTo>
                  <a:pt x="601659" y="621790"/>
                  <a:pt x="624341" y="608464"/>
                  <a:pt x="636250" y="587199"/>
                </a:cubicBezTo>
                <a:cubicBezTo>
                  <a:pt x="648158" y="565650"/>
                  <a:pt x="647591" y="539281"/>
                  <a:pt x="634548" y="518583"/>
                </a:cubicBezTo>
                <a:close/>
                <a:moveTo>
                  <a:pt x="577558" y="555443"/>
                </a:moveTo>
                <a:cubicBezTo>
                  <a:pt x="577558" y="555443"/>
                  <a:pt x="577558" y="555443"/>
                  <a:pt x="577275" y="555443"/>
                </a:cubicBezTo>
                <a:lnTo>
                  <a:pt x="398081" y="555443"/>
                </a:lnTo>
                <a:cubicBezTo>
                  <a:pt x="398081" y="555443"/>
                  <a:pt x="397798" y="553742"/>
                  <a:pt x="397798" y="553742"/>
                </a:cubicBezTo>
                <a:lnTo>
                  <a:pt x="487111" y="409706"/>
                </a:lnTo>
                <a:lnTo>
                  <a:pt x="488529" y="409706"/>
                </a:lnTo>
                <a:lnTo>
                  <a:pt x="577842" y="553742"/>
                </a:lnTo>
                <a:lnTo>
                  <a:pt x="577842" y="555443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8"/>
          <p:cNvSpPr txBox="1"/>
          <p:nvPr>
            <p:ph type="title"/>
          </p:nvPr>
        </p:nvSpPr>
        <p:spPr>
          <a:xfrm>
            <a:off x="104800" y="0"/>
            <a:ext cx="2751000" cy="135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/>
              <a:t>MODEL </a:t>
            </a:r>
            <a:r>
              <a:rPr lang="en"/>
              <a:t>DANYCH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"/>
            </a:br>
            <a:r>
              <a:rPr lang="en"/>
              <a:t>  SurrealQL</a:t>
            </a:r>
            <a:endParaRPr/>
          </a:p>
        </p:txBody>
      </p:sp>
      <p:sp>
        <p:nvSpPr>
          <p:cNvPr id="190" name="Google Shape;190;p28"/>
          <p:cNvSpPr txBox="1"/>
          <p:nvPr>
            <p:ph idx="1" type="subTitle"/>
          </p:nvPr>
        </p:nvSpPr>
        <p:spPr>
          <a:xfrm>
            <a:off x="510450" y="1451850"/>
            <a:ext cx="5126400" cy="276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Tworzenie Schematów (tabele schemaless)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Be Vietnam Pro"/>
                <a:ea typeface="Be Vietnam Pro"/>
                <a:cs typeface="Be Vietnam Pro"/>
                <a:sym typeface="Be Vietnam Pro"/>
              </a:rPr>
              <a:t>CREATE TABLE  </a:t>
            </a:r>
            <a:r>
              <a:rPr lang="en"/>
              <a:t>user;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Be Vietnam Pro"/>
                <a:ea typeface="Be Vietnam Pro"/>
                <a:cs typeface="Be Vietnam Pro"/>
                <a:sym typeface="Be Vietnam Pro"/>
              </a:rPr>
              <a:t>CREATE TABLE  </a:t>
            </a:r>
            <a:r>
              <a:rPr lang="en"/>
              <a:t>movie;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Be Vietnam Pro"/>
                <a:ea typeface="Be Vietnam Pro"/>
                <a:cs typeface="Be Vietnam Pro"/>
                <a:sym typeface="Be Vietnam Pro"/>
              </a:rPr>
              <a:t>CREATE TABLE  </a:t>
            </a:r>
            <a:r>
              <a:rPr lang="en"/>
              <a:t>genre;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Tworzenie rekordów: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Be Vietnam Pro"/>
                <a:ea typeface="Be Vietnam Pro"/>
                <a:cs typeface="Be Vietnam Pro"/>
                <a:sym typeface="Be Vietnam Pro"/>
              </a:rPr>
              <a:t>CREATE </a:t>
            </a:r>
            <a:r>
              <a:rPr lang="en"/>
              <a:t>user:bartosz SET name = "Bartosz", age = 26;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Be Vietnam Pro"/>
                <a:ea typeface="Be Vietnam Pro"/>
                <a:cs typeface="Be Vietnam Pro"/>
                <a:sym typeface="Be Vietnam Pro"/>
              </a:rPr>
              <a:t>CREATE </a:t>
            </a:r>
            <a:r>
              <a:rPr lang="en"/>
              <a:t>movie:inception SET title = "Inception", year</a:t>
            </a:r>
            <a:r>
              <a:rPr lang="en"/>
              <a:t> </a:t>
            </a:r>
            <a:r>
              <a:rPr lang="en"/>
              <a:t>= 2010;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Be Vietnam Pro"/>
                <a:ea typeface="Be Vietnam Pro"/>
                <a:cs typeface="Be Vietnam Pro"/>
                <a:sym typeface="Be Vietnam Pro"/>
              </a:rPr>
              <a:t>CREATE</a:t>
            </a:r>
            <a:r>
              <a:rPr lang="en"/>
              <a:t> genre:sci_fi SET name = "Sci-Fi";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Tworzenie relacji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Be Vietnam Pro"/>
                <a:ea typeface="Be Vietnam Pro"/>
                <a:cs typeface="Be Vietnam Pro"/>
                <a:sym typeface="Be Vietnam Pro"/>
              </a:rPr>
              <a:t>RELATE </a:t>
            </a:r>
            <a:r>
              <a:rPr lang="en"/>
              <a:t>user:bartosz</a:t>
            </a:r>
            <a:r>
              <a:rPr b="1" lang="en">
                <a:latin typeface="Be Vietnam Pro"/>
                <a:ea typeface="Be Vietnam Pro"/>
                <a:cs typeface="Be Vietnam Pro"/>
                <a:sym typeface="Be Vietnam Pro"/>
              </a:rPr>
              <a:t> </a:t>
            </a:r>
            <a:r>
              <a:rPr lang="en"/>
              <a:t>-&gt;rated-&gt;movie:</a:t>
            </a:r>
            <a:r>
              <a:rPr lang="en"/>
              <a:t>inception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Be Vietnam Pro"/>
                <a:ea typeface="Be Vietnam Pro"/>
                <a:cs typeface="Be Vietnam Pro"/>
                <a:sym typeface="Be Vietnam Pro"/>
              </a:rPr>
              <a:t>  SET score </a:t>
            </a:r>
            <a:r>
              <a:rPr lang="en"/>
              <a:t>= 9, created_at = time::now();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Be Vietnam Pro"/>
                <a:ea typeface="Be Vietnam Pro"/>
                <a:cs typeface="Be Vietnam Pro"/>
                <a:sym typeface="Be Vietnam Pro"/>
              </a:rPr>
              <a:t>RELATE </a:t>
            </a:r>
            <a:r>
              <a:rPr lang="en"/>
              <a:t>movie:</a:t>
            </a:r>
            <a:r>
              <a:rPr lang="en"/>
              <a:t>inception</a:t>
            </a:r>
            <a:r>
              <a:rPr lang="en"/>
              <a:t>-&gt;belongs_to-&gt;genre:sci_fi;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9"/>
          <p:cNvSpPr txBox="1"/>
          <p:nvPr>
            <p:ph type="title"/>
          </p:nvPr>
        </p:nvSpPr>
        <p:spPr>
          <a:xfrm>
            <a:off x="1028600" y="845525"/>
            <a:ext cx="6066300" cy="60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Algorytm rekomendacji</a:t>
            </a:r>
            <a:endParaRPr/>
          </a:p>
        </p:txBody>
      </p:sp>
      <p:sp>
        <p:nvSpPr>
          <p:cNvPr id="196" name="Google Shape;196;p29"/>
          <p:cNvSpPr txBox="1"/>
          <p:nvPr>
            <p:ph idx="1" type="subTitle"/>
          </p:nvPr>
        </p:nvSpPr>
        <p:spPr>
          <a:xfrm>
            <a:off x="1028615" y="2383244"/>
            <a:ext cx="6023100" cy="18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Znajdź filmy w tych samych gatunkach, co filmy ocenione przez użytkownika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Na podstawie: gatunków, reżyserów, aktorów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29"/>
          <p:cNvSpPr txBox="1"/>
          <p:nvPr>
            <p:ph idx="2" type="subTitle"/>
          </p:nvPr>
        </p:nvSpPr>
        <p:spPr>
          <a:xfrm>
            <a:off x="1028600" y="1712875"/>
            <a:ext cx="6023100" cy="72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/>
              <a:t>PODOBNE </a:t>
            </a:r>
            <a:r>
              <a:rPr lang="en"/>
              <a:t>FILMY</a:t>
            </a:r>
            <a:endParaRPr/>
          </a:p>
        </p:txBody>
      </p:sp>
      <p:sp>
        <p:nvSpPr>
          <p:cNvPr id="198" name="Google Shape;198;p29"/>
          <p:cNvSpPr txBox="1"/>
          <p:nvPr>
            <p:ph idx="3" type="subTitle"/>
          </p:nvPr>
        </p:nvSpPr>
        <p:spPr>
          <a:xfrm>
            <a:off x="1028625" y="3527750"/>
            <a:ext cx="45927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Znajdź użytkowników, którzy ocenili podobne filmy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Poleć filmy, które im się spodobały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29"/>
          <p:cNvSpPr txBox="1"/>
          <p:nvPr>
            <p:ph idx="4" type="subTitle"/>
          </p:nvPr>
        </p:nvSpPr>
        <p:spPr>
          <a:xfrm>
            <a:off x="1037600" y="2857400"/>
            <a:ext cx="2625000" cy="72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/>
              <a:t>PODOBNI </a:t>
            </a:r>
            <a:r>
              <a:rPr lang="en"/>
              <a:t>UŻYTKOWNICY</a:t>
            </a:r>
            <a:endParaRPr/>
          </a:p>
        </p:txBody>
      </p:sp>
      <p:sp>
        <p:nvSpPr>
          <p:cNvPr id="200" name="Google Shape;200;p29"/>
          <p:cNvSpPr txBox="1"/>
          <p:nvPr/>
        </p:nvSpPr>
        <p:spPr>
          <a:xfrm>
            <a:off x="3005700" y="4653700"/>
            <a:ext cx="606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Surreal umożliwia oba te działania za pomocą prostych zapytań grafowych!</a:t>
            </a:r>
            <a:endParaRPr b="1" sz="1200">
              <a:solidFill>
                <a:schemeClr val="dk1"/>
              </a:solidFill>
              <a:latin typeface="Be Vietnam Pro"/>
              <a:ea typeface="Be Vietnam Pro"/>
              <a:cs typeface="Be Vietnam Pro"/>
              <a:sym typeface="Be Vietnam Pr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0"/>
          <p:cNvSpPr txBox="1"/>
          <p:nvPr>
            <p:ph type="title"/>
          </p:nvPr>
        </p:nvSpPr>
        <p:spPr>
          <a:xfrm>
            <a:off x="1567050" y="992650"/>
            <a:ext cx="6779100" cy="15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Rekomendacje oparte na treści</a:t>
            </a:r>
            <a:endParaRPr/>
          </a:p>
        </p:txBody>
      </p:sp>
      <p:sp>
        <p:nvSpPr>
          <p:cNvPr id="206" name="Google Shape;206;p30"/>
          <p:cNvSpPr txBox="1"/>
          <p:nvPr>
            <p:ph idx="2" type="title"/>
          </p:nvPr>
        </p:nvSpPr>
        <p:spPr>
          <a:xfrm>
            <a:off x="8157125" y="0"/>
            <a:ext cx="1652100" cy="91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207" name="Google Shape;207;p30"/>
          <p:cNvSpPr txBox="1"/>
          <p:nvPr/>
        </p:nvSpPr>
        <p:spPr>
          <a:xfrm>
            <a:off x="1567050" y="351600"/>
            <a:ext cx="7348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Podobne </a:t>
            </a:r>
            <a:r>
              <a:rPr b="1" lang="en" sz="16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filmy</a:t>
            </a:r>
            <a:endParaRPr b="1" sz="16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</p:txBody>
      </p:sp>
      <p:sp>
        <p:nvSpPr>
          <p:cNvPr id="208" name="Google Shape;208;p30"/>
          <p:cNvSpPr txBox="1"/>
          <p:nvPr/>
        </p:nvSpPr>
        <p:spPr>
          <a:xfrm flipH="1" rot="-5400000">
            <a:off x="329061" y="3944250"/>
            <a:ext cx="12642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</p:txBody>
      </p:sp>
      <p:sp>
        <p:nvSpPr>
          <p:cNvPr id="209" name="Google Shape;209;p30"/>
          <p:cNvSpPr txBox="1"/>
          <p:nvPr/>
        </p:nvSpPr>
        <p:spPr>
          <a:xfrm flipH="1" rot="-5400000">
            <a:off x="329061" y="522150"/>
            <a:ext cx="12642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</p:txBody>
      </p:sp>
      <p:sp>
        <p:nvSpPr>
          <p:cNvPr id="210" name="Google Shape;210;p30"/>
          <p:cNvSpPr txBox="1"/>
          <p:nvPr/>
        </p:nvSpPr>
        <p:spPr>
          <a:xfrm>
            <a:off x="1656325" y="1717650"/>
            <a:ext cx="73482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SELECT </a:t>
            </a:r>
            <a:r>
              <a:rPr lang="en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-&gt;rated-&gt;movie-&gt;belongs_to-&gt;&lt;-belongs_to&lt;-movie</a:t>
            </a:r>
            <a:endParaRPr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AS </a:t>
            </a:r>
            <a:r>
              <a:rPr lang="en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recommended_movies</a:t>
            </a:r>
            <a:endParaRPr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FROM </a:t>
            </a:r>
            <a:r>
              <a:rPr lang="en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user:oskar</a:t>
            </a:r>
            <a:endParaRPr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FETCH </a:t>
            </a:r>
            <a:r>
              <a:rPr lang="en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-&gt;rated-&gt;movie-&gt;belongs_to;</a:t>
            </a:r>
            <a:endParaRPr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</p:txBody>
      </p:sp>
      <p:sp>
        <p:nvSpPr>
          <p:cNvPr id="211" name="Google Shape;211;p30"/>
          <p:cNvSpPr txBox="1"/>
          <p:nvPr/>
        </p:nvSpPr>
        <p:spPr>
          <a:xfrm>
            <a:off x="1656325" y="2931975"/>
            <a:ext cx="73482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1. </a:t>
            </a:r>
            <a:r>
              <a:rPr lang="en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Rozpocznij o</a:t>
            </a:r>
            <a:r>
              <a:rPr lang="en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d</a:t>
            </a:r>
            <a:r>
              <a:rPr lang="en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 </a:t>
            </a:r>
            <a:r>
              <a:rPr b="1" lang="en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user:oskar</a:t>
            </a:r>
            <a:endParaRPr b="1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2.</a:t>
            </a:r>
            <a:r>
              <a:rPr lang="en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 Przejdź przez</a:t>
            </a:r>
            <a:r>
              <a:rPr b="1" lang="en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 -&gt;rated-&gt;movie</a:t>
            </a:r>
            <a:r>
              <a:rPr lang="en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 (pobierz ocenione filmy)</a:t>
            </a:r>
            <a:endParaRPr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3. </a:t>
            </a:r>
            <a:r>
              <a:rPr lang="en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Przejdź przez</a:t>
            </a:r>
            <a:r>
              <a:rPr b="1" lang="en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 -&gt;belongs_to-&gt;genre</a:t>
            </a:r>
            <a:r>
              <a:rPr lang="en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 (pobierz gatunki)</a:t>
            </a:r>
            <a:endParaRPr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4.</a:t>
            </a:r>
            <a:r>
              <a:rPr lang="en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 Przejdź przez</a:t>
            </a:r>
            <a:r>
              <a:rPr b="1" lang="en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 &lt;-belongs_to&lt;-movie </a:t>
            </a:r>
            <a:r>
              <a:rPr lang="en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(pobierz inne filmy z tych gatunków)</a:t>
            </a:r>
            <a:endParaRPr b="1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</p:txBody>
      </p:sp>
      <p:sp>
        <p:nvSpPr>
          <p:cNvPr id="212" name="Google Shape;212;p30"/>
          <p:cNvSpPr txBox="1"/>
          <p:nvPr/>
        </p:nvSpPr>
        <p:spPr>
          <a:xfrm>
            <a:off x="3639150" y="4419875"/>
            <a:ext cx="4707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Pojedyncze zapytanie, wiele poziomów relacji!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1"/>
          <p:cNvSpPr txBox="1"/>
          <p:nvPr/>
        </p:nvSpPr>
        <p:spPr>
          <a:xfrm>
            <a:off x="8069050" y="-265325"/>
            <a:ext cx="30000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02</a:t>
            </a:r>
            <a:endParaRPr sz="6000">
              <a:solidFill>
                <a:schemeClr val="lt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</p:txBody>
      </p:sp>
      <p:sp>
        <p:nvSpPr>
          <p:cNvPr id="218" name="Google Shape;218;p31"/>
          <p:cNvSpPr txBox="1"/>
          <p:nvPr/>
        </p:nvSpPr>
        <p:spPr>
          <a:xfrm>
            <a:off x="612325" y="190500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Podobne </a:t>
            </a:r>
            <a:r>
              <a:rPr b="1" lang="en" sz="1600"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filmy</a:t>
            </a:r>
            <a:endParaRPr b="1" sz="1600">
              <a:solidFill>
                <a:schemeClr val="lt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</p:txBody>
      </p:sp>
      <p:sp>
        <p:nvSpPr>
          <p:cNvPr id="219" name="Google Shape;219;p31"/>
          <p:cNvSpPr txBox="1"/>
          <p:nvPr>
            <p:ph type="title"/>
          </p:nvPr>
        </p:nvSpPr>
        <p:spPr>
          <a:xfrm>
            <a:off x="612325" y="696738"/>
            <a:ext cx="6779100" cy="48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Rekomendacje oparte na grupie użytkowników</a:t>
            </a:r>
            <a:endParaRPr/>
          </a:p>
        </p:txBody>
      </p:sp>
      <p:sp>
        <p:nvSpPr>
          <p:cNvPr id="220" name="Google Shape;220;p31"/>
          <p:cNvSpPr txBox="1"/>
          <p:nvPr/>
        </p:nvSpPr>
        <p:spPr>
          <a:xfrm>
            <a:off x="1183825" y="1382725"/>
            <a:ext cx="33270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SELECT </a:t>
            </a:r>
            <a:r>
              <a:rPr lang="en"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&lt;-rated&lt;-user-&gt;rated-&gt;movie</a:t>
            </a:r>
            <a:endParaRPr>
              <a:solidFill>
                <a:schemeClr val="lt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AS </a:t>
            </a:r>
            <a:r>
              <a:rPr lang="en"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similar_users_movies</a:t>
            </a:r>
            <a:endParaRPr>
              <a:solidFill>
                <a:schemeClr val="lt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FROM </a:t>
            </a:r>
            <a:r>
              <a:rPr lang="en"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movie:inception</a:t>
            </a:r>
            <a:endParaRPr>
              <a:solidFill>
                <a:schemeClr val="lt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FETCH </a:t>
            </a:r>
            <a:r>
              <a:rPr lang="en"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&lt;-rated&lt;-user-&gt;rated-&gt;movie;</a:t>
            </a:r>
            <a:endParaRPr>
              <a:solidFill>
                <a:schemeClr val="lt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</p:txBody>
      </p:sp>
      <p:sp>
        <p:nvSpPr>
          <p:cNvPr id="221" name="Google Shape;221;p31"/>
          <p:cNvSpPr txBox="1"/>
          <p:nvPr/>
        </p:nvSpPr>
        <p:spPr>
          <a:xfrm>
            <a:off x="1183825" y="2768725"/>
            <a:ext cx="50481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1. </a:t>
            </a:r>
            <a:r>
              <a:rPr lang="en"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Rozpocznij od - </a:t>
            </a:r>
            <a:r>
              <a:rPr b="1" lang="en"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movie:inception</a:t>
            </a:r>
            <a:endParaRPr b="1">
              <a:solidFill>
                <a:schemeClr val="lt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2. </a:t>
            </a:r>
            <a:r>
              <a:rPr lang="en"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Znajdź użytkowników, którzy ocenili - </a:t>
            </a:r>
            <a:r>
              <a:rPr b="1" lang="en"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&lt;-rated&lt;-user</a:t>
            </a:r>
            <a:endParaRPr b="1">
              <a:solidFill>
                <a:schemeClr val="lt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3. </a:t>
            </a:r>
            <a:r>
              <a:rPr lang="en"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Pobierz filmy, które ocenili ci użytkownicy -</a:t>
            </a:r>
            <a:r>
              <a:rPr b="1" lang="en"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 -&gt;rated-&gt;movie</a:t>
            </a:r>
            <a:endParaRPr>
              <a:solidFill>
                <a:schemeClr val="lt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</p:txBody>
      </p:sp>
      <p:sp>
        <p:nvSpPr>
          <p:cNvPr id="222" name="Google Shape;222;p31"/>
          <p:cNvSpPr txBox="1"/>
          <p:nvPr/>
        </p:nvSpPr>
        <p:spPr>
          <a:xfrm>
            <a:off x="4000675" y="3832800"/>
            <a:ext cx="4707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Naturalna składnia przechodzenia przez graf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2"/>
          <p:cNvSpPr txBox="1"/>
          <p:nvPr>
            <p:ph type="title"/>
          </p:nvPr>
        </p:nvSpPr>
        <p:spPr>
          <a:xfrm>
            <a:off x="1347100" y="2955525"/>
            <a:ext cx="7797000" cy="75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SurrealDB vs MongoDB vs Neo4J</a:t>
            </a:r>
            <a:endParaRPr/>
          </a:p>
        </p:txBody>
      </p:sp>
      <p:sp>
        <p:nvSpPr>
          <p:cNvPr id="228" name="Google Shape;228;p32"/>
          <p:cNvSpPr txBox="1"/>
          <p:nvPr>
            <p:ph idx="4" type="title"/>
          </p:nvPr>
        </p:nvSpPr>
        <p:spPr>
          <a:xfrm>
            <a:off x="0" y="1563625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700"/>
              <a:t>Porównanie </a:t>
            </a:r>
            <a:endParaRPr sz="57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3"/>
          <p:cNvSpPr txBox="1"/>
          <p:nvPr>
            <p:ph type="title"/>
          </p:nvPr>
        </p:nvSpPr>
        <p:spPr>
          <a:xfrm>
            <a:off x="228600" y="228600"/>
            <a:ext cx="8686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/>
              <a:t>ZŁOŻONOŚĆ </a:t>
            </a:r>
            <a:r>
              <a:rPr lang="en"/>
              <a:t>W KODZIE</a:t>
            </a:r>
            <a:endParaRPr/>
          </a:p>
        </p:txBody>
      </p:sp>
      <p:sp>
        <p:nvSpPr>
          <p:cNvPr id="234" name="Google Shape;234;p33"/>
          <p:cNvSpPr txBox="1"/>
          <p:nvPr/>
        </p:nvSpPr>
        <p:spPr>
          <a:xfrm>
            <a:off x="671063" y="2029650"/>
            <a:ext cx="2201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Pojedyncze zapytanie, naturalna składnia</a:t>
            </a:r>
            <a:endParaRPr b="1" sz="1600">
              <a:solidFill>
                <a:schemeClr val="lt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</p:txBody>
      </p:sp>
      <p:sp>
        <p:nvSpPr>
          <p:cNvPr id="235" name="Google Shape;235;p33"/>
          <p:cNvSpPr txBox="1"/>
          <p:nvPr/>
        </p:nvSpPr>
        <p:spPr>
          <a:xfrm>
            <a:off x="3360340" y="2063513"/>
            <a:ext cx="22017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Wiele zapytań, ręczne łączenia</a:t>
            </a:r>
            <a:endParaRPr b="1" sz="1600">
              <a:solidFill>
                <a:schemeClr val="lt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</p:txBody>
      </p:sp>
      <p:sp>
        <p:nvSpPr>
          <p:cNvPr id="236" name="Google Shape;236;p33"/>
          <p:cNvSpPr txBox="1"/>
          <p:nvPr/>
        </p:nvSpPr>
        <p:spPr>
          <a:xfrm>
            <a:off x="5895338" y="2029650"/>
            <a:ext cx="2184300" cy="793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Pojedyncze zapytanie, zoptymalizowane pod kątem grafów</a:t>
            </a:r>
            <a:endParaRPr b="1" sz="1600">
              <a:solidFill>
                <a:schemeClr val="lt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</p:txBody>
      </p:sp>
      <p:sp>
        <p:nvSpPr>
          <p:cNvPr id="237" name="Google Shape;237;p33"/>
          <p:cNvSpPr txBox="1"/>
          <p:nvPr/>
        </p:nvSpPr>
        <p:spPr>
          <a:xfrm>
            <a:off x="589789" y="1496250"/>
            <a:ext cx="23643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01</a:t>
            </a:r>
            <a:br>
              <a:rPr b="1" lang="en" sz="24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</a:br>
            <a:r>
              <a:rPr lang="en" sz="2400">
                <a:solidFill>
                  <a:schemeClr val="lt1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surreal</a:t>
            </a:r>
            <a:endParaRPr sz="2400">
              <a:solidFill>
                <a:schemeClr val="lt1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</p:txBody>
      </p:sp>
      <p:sp>
        <p:nvSpPr>
          <p:cNvPr id="238" name="Google Shape;238;p33"/>
          <p:cNvSpPr txBox="1"/>
          <p:nvPr/>
        </p:nvSpPr>
        <p:spPr>
          <a:xfrm>
            <a:off x="3279062" y="1510463"/>
            <a:ext cx="22830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02</a:t>
            </a:r>
            <a:br>
              <a:rPr b="1" lang="en" sz="24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</a:br>
            <a:r>
              <a:rPr lang="en" sz="2400">
                <a:solidFill>
                  <a:schemeClr val="lt1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mongo</a:t>
            </a:r>
            <a:endParaRPr sz="2400">
              <a:solidFill>
                <a:schemeClr val="lt1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</p:txBody>
      </p:sp>
      <p:sp>
        <p:nvSpPr>
          <p:cNvPr id="239" name="Google Shape;239;p33"/>
          <p:cNvSpPr txBox="1"/>
          <p:nvPr/>
        </p:nvSpPr>
        <p:spPr>
          <a:xfrm>
            <a:off x="5738988" y="1496250"/>
            <a:ext cx="24153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03</a:t>
            </a:r>
            <a:endParaRPr b="1" sz="24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lt1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neo4j</a:t>
            </a:r>
            <a:endParaRPr sz="2400">
              <a:solidFill>
                <a:schemeClr val="lt1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</p:txBody>
      </p:sp>
      <p:cxnSp>
        <p:nvCxnSpPr>
          <p:cNvPr id="240" name="Google Shape;240;p33"/>
          <p:cNvCxnSpPr/>
          <p:nvPr/>
        </p:nvCxnSpPr>
        <p:spPr>
          <a:xfrm>
            <a:off x="3102138" y="1496250"/>
            <a:ext cx="0" cy="2790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1" name="Google Shape;241;p33"/>
          <p:cNvCxnSpPr/>
          <p:nvPr/>
        </p:nvCxnSpPr>
        <p:spPr>
          <a:xfrm>
            <a:off x="5738975" y="1496250"/>
            <a:ext cx="0" cy="2790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2" name="Google Shape;242;p33"/>
          <p:cNvCxnSpPr/>
          <p:nvPr/>
        </p:nvCxnSpPr>
        <p:spPr>
          <a:xfrm>
            <a:off x="8408763" y="1496250"/>
            <a:ext cx="0" cy="2790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3" name="Google Shape;243;p33"/>
          <p:cNvSpPr/>
          <p:nvPr/>
        </p:nvSpPr>
        <p:spPr>
          <a:xfrm>
            <a:off x="-472575" y="571075"/>
            <a:ext cx="274200" cy="436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Be Vietnam Pro Light"/>
              <a:ea typeface="Be Vietnam Pro Light"/>
              <a:cs typeface="Be Vietnam Pro Light"/>
              <a:sym typeface="Be Vietnam Pro Light"/>
            </a:endParaRPr>
          </a:p>
        </p:txBody>
      </p:sp>
      <p:cxnSp>
        <p:nvCxnSpPr>
          <p:cNvPr id="244" name="Google Shape;244;p33"/>
          <p:cNvCxnSpPr/>
          <p:nvPr/>
        </p:nvCxnSpPr>
        <p:spPr>
          <a:xfrm>
            <a:off x="480938" y="1496250"/>
            <a:ext cx="0" cy="2790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45" name="Google Shape;245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9800" y="2673927"/>
            <a:ext cx="2415300" cy="892011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88825" y="2753050"/>
            <a:ext cx="2488450" cy="6355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99838" y="2823451"/>
            <a:ext cx="2548075" cy="3195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4"/>
          <p:cNvSpPr txBox="1"/>
          <p:nvPr>
            <p:ph type="title"/>
          </p:nvPr>
        </p:nvSpPr>
        <p:spPr>
          <a:xfrm>
            <a:off x="228600" y="357875"/>
            <a:ext cx="8686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lang="en"/>
              <a:t>Porównanie</a:t>
            </a:r>
            <a:r>
              <a:rPr b="0" lang="en"/>
              <a:t> </a:t>
            </a:r>
            <a:r>
              <a:rPr lang="en"/>
              <a:t>Data Model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253" name="Google Shape;253;p34"/>
          <p:cNvGraphicFramePr/>
          <p:nvPr/>
        </p:nvGraphicFramePr>
        <p:xfrm>
          <a:off x="768800" y="1571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{D14AAFB3-9E27-4CA5-A827-3116D881A895}</a:tableStyleId>
              </a:tblPr>
              <a:tblGrid>
                <a:gridCol w="1901600"/>
                <a:gridCol w="1901600"/>
                <a:gridCol w="1901600"/>
                <a:gridCol w="19016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chemeClr val="dk1"/>
                          </a:solidFill>
                          <a:latin typeface="Darker Grotesque"/>
                          <a:ea typeface="Darker Grotesque"/>
                          <a:cs typeface="Darker Grotesque"/>
                          <a:sym typeface="Darker Grotesque"/>
                        </a:rPr>
                        <a:t>Funkcjonalność</a:t>
                      </a:r>
                      <a:endParaRPr b="1" sz="1800">
                        <a:solidFill>
                          <a:schemeClr val="dk1"/>
                        </a:solidFill>
                        <a:latin typeface="Darker Grotesque"/>
                        <a:ea typeface="Darker Grotesque"/>
                        <a:cs typeface="Darker Grotesque"/>
                        <a:sym typeface="Darker Grotesqu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1010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1010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1010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1010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chemeClr val="dk1"/>
                          </a:solidFill>
                          <a:latin typeface="Darker Grotesque"/>
                          <a:ea typeface="Darker Grotesque"/>
                          <a:cs typeface="Darker Grotesque"/>
                          <a:sym typeface="Darker Grotesque"/>
                        </a:rPr>
                        <a:t>SurrealDB</a:t>
                      </a:r>
                      <a:endParaRPr b="1" sz="1800">
                        <a:solidFill>
                          <a:schemeClr val="dk1"/>
                        </a:solidFill>
                        <a:latin typeface="Darker Grotesque"/>
                        <a:ea typeface="Darker Grotesque"/>
                        <a:cs typeface="Darker Grotesque"/>
                        <a:sym typeface="Darker Grotesqu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1010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1010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1010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1010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chemeClr val="dk1"/>
                          </a:solidFill>
                          <a:latin typeface="Darker Grotesque"/>
                          <a:ea typeface="Darker Grotesque"/>
                          <a:cs typeface="Darker Grotesque"/>
                          <a:sym typeface="Darker Grotesque"/>
                        </a:rPr>
                        <a:t>MongoDB</a:t>
                      </a:r>
                      <a:endParaRPr b="1" sz="1800">
                        <a:solidFill>
                          <a:schemeClr val="dk1"/>
                        </a:solidFill>
                        <a:latin typeface="Darker Grotesque"/>
                        <a:ea typeface="Darker Grotesque"/>
                        <a:cs typeface="Darker Grotesque"/>
                        <a:sym typeface="Darker Grotesqu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1010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1010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1010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1010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chemeClr val="dk1"/>
                          </a:solidFill>
                          <a:latin typeface="Darker Grotesque"/>
                          <a:ea typeface="Darker Grotesque"/>
                          <a:cs typeface="Darker Grotesque"/>
                          <a:sym typeface="Darker Grotesque"/>
                        </a:rPr>
                        <a:t>Neo4J</a:t>
                      </a:r>
                      <a:endParaRPr b="1" sz="1800">
                        <a:solidFill>
                          <a:schemeClr val="dk1"/>
                        </a:solidFill>
                        <a:latin typeface="Darker Grotesque"/>
                        <a:ea typeface="Darker Grotesque"/>
                        <a:cs typeface="Darker Grotesque"/>
                        <a:sym typeface="Darker Grotesqu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1010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1010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1010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1010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</a:rPr>
                        <a:t>Model</a:t>
                      </a:r>
                      <a:endParaRPr b="1" sz="1200">
                        <a:solidFill>
                          <a:schemeClr val="dk1"/>
                        </a:solidFill>
                        <a:latin typeface="Darker Grotesque"/>
                        <a:ea typeface="Darker Grotesque"/>
                        <a:cs typeface="Darker Grotesque"/>
                        <a:sym typeface="Darker Grotesque"/>
                      </a:endParaRPr>
                    </a:p>
                  </a:txBody>
                  <a:tcPr marT="47625" marB="47625" marR="95250" marL="95250">
                    <a:lnL cap="flat" cmpd="sng" w="9525">
                      <a:solidFill>
                        <a:srgbClr val="01010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1010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1010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1010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Hybrid (doc + graph)</a:t>
                      </a:r>
                      <a:endParaRPr sz="1200">
                        <a:solidFill>
                          <a:schemeClr val="dk1"/>
                        </a:solidFill>
                        <a:latin typeface="Darker Grotesque"/>
                        <a:ea typeface="Darker Grotesque"/>
                        <a:cs typeface="Darker Grotesque"/>
                        <a:sym typeface="Darker Grotesque"/>
                      </a:endParaRPr>
                    </a:p>
                  </a:txBody>
                  <a:tcPr marT="47625" marB="47625" marR="95250" marL="95250">
                    <a:lnL cap="flat" cmpd="sng" w="9525">
                      <a:solidFill>
                        <a:srgbClr val="01010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1010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1010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1010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Document only</a:t>
                      </a:r>
                      <a:endParaRPr sz="1200">
                        <a:solidFill>
                          <a:schemeClr val="dk1"/>
                        </a:solidFill>
                        <a:latin typeface="Darker Grotesque"/>
                        <a:ea typeface="Darker Grotesque"/>
                        <a:cs typeface="Darker Grotesque"/>
                        <a:sym typeface="Darker Grotesque"/>
                      </a:endParaRPr>
                    </a:p>
                  </a:txBody>
                  <a:tcPr marT="47625" marB="47625" marR="95250" marL="95250">
                    <a:lnL cap="flat" cmpd="sng" w="9525">
                      <a:solidFill>
                        <a:srgbClr val="01010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1010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1010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1010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Graph only</a:t>
                      </a:r>
                      <a:endParaRPr sz="1200">
                        <a:solidFill>
                          <a:schemeClr val="dk1"/>
                        </a:solidFill>
                        <a:latin typeface="Darker Grotesque"/>
                        <a:ea typeface="Darker Grotesque"/>
                        <a:cs typeface="Darker Grotesque"/>
                        <a:sym typeface="Darker Grotesque"/>
                      </a:endParaRPr>
                    </a:p>
                  </a:txBody>
                  <a:tcPr marT="47625" marB="47625" marR="95250" marL="95250">
                    <a:lnL cap="flat" cmpd="sng" w="9525">
                      <a:solidFill>
                        <a:srgbClr val="01010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1010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1010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1010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</a:rPr>
                        <a:t>Relationships</a:t>
                      </a:r>
                      <a:endParaRPr b="1" sz="1200">
                        <a:solidFill>
                          <a:schemeClr val="dk1"/>
                        </a:solidFill>
                        <a:latin typeface="Darker Grotesque"/>
                        <a:ea typeface="Darker Grotesque"/>
                        <a:cs typeface="Darker Grotesque"/>
                        <a:sym typeface="Darker Grotesque"/>
                      </a:endParaRPr>
                    </a:p>
                  </a:txBody>
                  <a:tcPr marT="47625" marB="47625" marR="95250" marL="95250">
                    <a:lnL cap="flat" cmpd="sng" w="9525">
                      <a:solidFill>
                        <a:srgbClr val="01010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1010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1010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1010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Native (RELATE)</a:t>
                      </a:r>
                      <a:endParaRPr sz="1200">
                        <a:solidFill>
                          <a:schemeClr val="dk1"/>
                        </a:solidFill>
                        <a:latin typeface="Darker Grotesque"/>
                        <a:ea typeface="Darker Grotesque"/>
                        <a:cs typeface="Darker Grotesque"/>
                        <a:sym typeface="Darker Grotesque"/>
                      </a:endParaRPr>
                    </a:p>
                  </a:txBody>
                  <a:tcPr marT="47625" marB="47625" marR="95250" marL="95250">
                    <a:lnL cap="flat" cmpd="sng" w="9525">
                      <a:solidFill>
                        <a:srgbClr val="01010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1010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1010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1010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Manual references</a:t>
                      </a:r>
                      <a:endParaRPr sz="1200">
                        <a:solidFill>
                          <a:schemeClr val="dk1"/>
                        </a:solidFill>
                        <a:latin typeface="Darker Grotesque"/>
                        <a:ea typeface="Darker Grotesque"/>
                        <a:cs typeface="Darker Grotesque"/>
                        <a:sym typeface="Darker Grotesque"/>
                      </a:endParaRPr>
                    </a:p>
                  </a:txBody>
                  <a:tcPr marT="47625" marB="47625" marR="95250" marL="95250">
                    <a:lnL cap="flat" cmpd="sng" w="9525">
                      <a:solidFill>
                        <a:srgbClr val="01010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1010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1010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1010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Native (first-class)</a:t>
                      </a:r>
                      <a:endParaRPr sz="1200">
                        <a:solidFill>
                          <a:schemeClr val="dk1"/>
                        </a:solidFill>
                        <a:latin typeface="Darker Grotesque"/>
                        <a:ea typeface="Darker Grotesque"/>
                        <a:cs typeface="Darker Grotesque"/>
                        <a:sym typeface="Darker Grotesque"/>
                      </a:endParaRPr>
                    </a:p>
                  </a:txBody>
                  <a:tcPr marT="47625" marB="47625" marR="95250" marL="95250">
                    <a:lnL cap="flat" cmpd="sng" w="9525">
                      <a:solidFill>
                        <a:srgbClr val="01010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1010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1010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1010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</a:rPr>
                        <a:t>Query Language</a:t>
                      </a:r>
                      <a:endParaRPr b="1" sz="1200">
                        <a:solidFill>
                          <a:schemeClr val="dk1"/>
                        </a:solidFill>
                        <a:latin typeface="Darker Grotesque"/>
                        <a:ea typeface="Darker Grotesque"/>
                        <a:cs typeface="Darker Grotesque"/>
                        <a:sym typeface="Darker Grotesque"/>
                      </a:endParaRPr>
                    </a:p>
                  </a:txBody>
                  <a:tcPr marT="47625" marB="47625" marR="95250" marL="95250">
                    <a:lnL cap="flat" cmpd="sng" w="9525">
                      <a:solidFill>
                        <a:srgbClr val="01010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1010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1010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1010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SurrealQL (SQL-like)</a:t>
                      </a:r>
                      <a:endParaRPr sz="1200">
                        <a:solidFill>
                          <a:schemeClr val="dk1"/>
                        </a:solidFill>
                        <a:latin typeface="Darker Grotesque"/>
                        <a:ea typeface="Darker Grotesque"/>
                        <a:cs typeface="Darker Grotesque"/>
                        <a:sym typeface="Darker Grotesque"/>
                      </a:endParaRPr>
                    </a:p>
                  </a:txBody>
                  <a:tcPr marT="47625" marB="47625" marR="95250" marL="95250">
                    <a:lnL cap="flat" cmpd="sng" w="9525">
                      <a:solidFill>
                        <a:srgbClr val="01010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1010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1010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1010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MongoDB Query</a:t>
                      </a:r>
                      <a:endParaRPr sz="1200">
                        <a:solidFill>
                          <a:schemeClr val="dk1"/>
                        </a:solidFill>
                        <a:latin typeface="Darker Grotesque"/>
                        <a:ea typeface="Darker Grotesque"/>
                        <a:cs typeface="Darker Grotesque"/>
                        <a:sym typeface="Darker Grotesque"/>
                      </a:endParaRPr>
                    </a:p>
                  </a:txBody>
                  <a:tcPr marT="47625" marB="47625" marR="95250" marL="95250">
                    <a:lnL cap="flat" cmpd="sng" w="9525">
                      <a:solidFill>
                        <a:srgbClr val="01010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1010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1010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1010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Cypher</a:t>
                      </a:r>
                      <a:endParaRPr sz="1200">
                        <a:solidFill>
                          <a:schemeClr val="dk1"/>
                        </a:solidFill>
                        <a:latin typeface="Darker Grotesque"/>
                        <a:ea typeface="Darker Grotesque"/>
                        <a:cs typeface="Darker Grotesque"/>
                        <a:sym typeface="Darker Grotesque"/>
                      </a:endParaRPr>
                    </a:p>
                  </a:txBody>
                  <a:tcPr marT="47625" marB="47625" marR="95250" marL="95250">
                    <a:lnL cap="flat" cmpd="sng" w="9525">
                      <a:solidFill>
                        <a:srgbClr val="01010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1010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1010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1010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</a:rPr>
                        <a:t>Graph Queries</a:t>
                      </a:r>
                      <a:endParaRPr b="1" sz="1200">
                        <a:solidFill>
                          <a:schemeClr val="dk1"/>
                        </a:solidFill>
                        <a:latin typeface="Darker Grotesque"/>
                        <a:ea typeface="Darker Grotesque"/>
                        <a:cs typeface="Darker Grotesque"/>
                        <a:sym typeface="Darker Grotesque"/>
                      </a:endParaRPr>
                    </a:p>
                  </a:txBody>
                  <a:tcPr marT="47625" marB="47625" marR="95250" marL="95250">
                    <a:lnL cap="flat" cmpd="sng" w="9525">
                      <a:solidFill>
                        <a:srgbClr val="01010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1010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1010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1010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Built-in (FETCH)</a:t>
                      </a:r>
                      <a:endParaRPr sz="1200">
                        <a:solidFill>
                          <a:schemeClr val="dk1"/>
                        </a:solidFill>
                        <a:latin typeface="Darker Grotesque"/>
                        <a:ea typeface="Darker Grotesque"/>
                        <a:cs typeface="Darker Grotesque"/>
                        <a:sym typeface="Darker Grotesque"/>
                      </a:endParaRPr>
                    </a:p>
                  </a:txBody>
                  <a:tcPr marT="47625" marB="47625" marR="95250" marL="95250">
                    <a:lnL cap="flat" cmpd="sng" w="9525">
                      <a:solidFill>
                        <a:srgbClr val="01010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1010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1010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1010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Aggregation pipelines</a:t>
                      </a:r>
                      <a:endParaRPr sz="1200">
                        <a:solidFill>
                          <a:schemeClr val="dk1"/>
                        </a:solidFill>
                        <a:latin typeface="Darker Grotesque"/>
                        <a:ea typeface="Darker Grotesque"/>
                        <a:cs typeface="Darker Grotesque"/>
                        <a:sym typeface="Darker Grotesque"/>
                      </a:endParaRPr>
                    </a:p>
                  </a:txBody>
                  <a:tcPr marT="47625" marB="47625" marR="95250" marL="95250">
                    <a:lnL cap="flat" cmpd="sng" w="9525">
                      <a:solidFill>
                        <a:srgbClr val="01010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1010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1010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1010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Native optimized</a:t>
                      </a:r>
                      <a:endParaRPr sz="1200">
                        <a:solidFill>
                          <a:schemeClr val="dk1"/>
                        </a:solidFill>
                        <a:latin typeface="Darker Grotesque"/>
                        <a:ea typeface="Darker Grotesque"/>
                        <a:cs typeface="Darker Grotesque"/>
                        <a:sym typeface="Darker Grotesque"/>
                      </a:endParaRPr>
                    </a:p>
                  </a:txBody>
                  <a:tcPr marT="47625" marB="47625" marR="95250" marL="95250">
                    <a:lnL cap="flat" cmpd="sng" w="9525">
                      <a:solidFill>
                        <a:srgbClr val="01010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1010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1010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1010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</a:rPr>
                        <a:t>Document Storage</a:t>
                      </a:r>
                      <a:endParaRPr b="1" sz="1200">
                        <a:solidFill>
                          <a:schemeClr val="dk1"/>
                        </a:solidFill>
                        <a:latin typeface="Darker Grotesque"/>
                        <a:ea typeface="Darker Grotesque"/>
                        <a:cs typeface="Darker Grotesque"/>
                        <a:sym typeface="Darker Grotesque"/>
                      </a:endParaRPr>
                    </a:p>
                  </a:txBody>
                  <a:tcPr marT="47625" marB="47625" marR="95250" marL="95250">
                    <a:lnL cap="flat" cmpd="sng" w="9525">
                      <a:solidFill>
                        <a:srgbClr val="01010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1010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1010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1010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Yes (JSON)</a:t>
                      </a:r>
                      <a:endParaRPr sz="1200">
                        <a:solidFill>
                          <a:schemeClr val="dk1"/>
                        </a:solidFill>
                        <a:latin typeface="Darker Grotesque"/>
                        <a:ea typeface="Darker Grotesque"/>
                        <a:cs typeface="Darker Grotesque"/>
                        <a:sym typeface="Darker Grotesque"/>
                      </a:endParaRPr>
                    </a:p>
                  </a:txBody>
                  <a:tcPr marT="47625" marB="47625" marR="95250" marL="95250">
                    <a:lnL cap="flat" cmpd="sng" w="9525">
                      <a:solidFill>
                        <a:srgbClr val="01010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1010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1010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1010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Yes (BSON)</a:t>
                      </a:r>
                      <a:endParaRPr sz="1200">
                        <a:solidFill>
                          <a:schemeClr val="dk1"/>
                        </a:solidFill>
                        <a:latin typeface="Darker Grotesque"/>
                        <a:ea typeface="Darker Grotesque"/>
                        <a:cs typeface="Darker Grotesque"/>
                        <a:sym typeface="Darker Grotesque"/>
                      </a:endParaRPr>
                    </a:p>
                  </a:txBody>
                  <a:tcPr marT="47625" marB="47625" marR="95250" marL="95250">
                    <a:lnL cap="flat" cmpd="sng" w="9525">
                      <a:solidFill>
                        <a:srgbClr val="01010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1010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1010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1010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No</a:t>
                      </a:r>
                      <a:endParaRPr sz="1200">
                        <a:solidFill>
                          <a:schemeClr val="dk1"/>
                        </a:solidFill>
                        <a:latin typeface="Darker Grotesque"/>
                        <a:ea typeface="Darker Grotesque"/>
                        <a:cs typeface="Darker Grotesque"/>
                        <a:sym typeface="Darker Grotesque"/>
                      </a:endParaRPr>
                    </a:p>
                  </a:txBody>
                  <a:tcPr marT="47625" marB="47625" marR="95250" marL="95250">
                    <a:lnL cap="flat" cmpd="sng" w="9525">
                      <a:solidFill>
                        <a:srgbClr val="01010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1010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1010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1010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5"/>
          <p:cNvSpPr txBox="1"/>
          <p:nvPr>
            <p:ph type="title"/>
          </p:nvPr>
        </p:nvSpPr>
        <p:spPr>
          <a:xfrm>
            <a:off x="407500" y="335925"/>
            <a:ext cx="5770800" cy="9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/>
              <a:t>Porównania dla nerdów</a:t>
            </a:r>
            <a:endParaRPr sz="3800"/>
          </a:p>
        </p:txBody>
      </p:sp>
      <p:sp>
        <p:nvSpPr>
          <p:cNvPr id="259" name="Google Shape;259;p35"/>
          <p:cNvSpPr txBox="1"/>
          <p:nvPr>
            <p:ph idx="4294967295" type="subTitle"/>
          </p:nvPr>
        </p:nvSpPr>
        <p:spPr>
          <a:xfrm>
            <a:off x="641525" y="1297925"/>
            <a:ext cx="3735300" cy="53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https://stateofdb.com/vs/neo4j-vs-surreal</a:t>
            </a:r>
            <a:endParaRPr/>
          </a:p>
        </p:txBody>
      </p:sp>
      <p:sp>
        <p:nvSpPr>
          <p:cNvPr id="260" name="Google Shape;260;p35"/>
          <p:cNvSpPr txBox="1"/>
          <p:nvPr>
            <p:ph idx="4294967295" type="subTitle"/>
          </p:nvPr>
        </p:nvSpPr>
        <p:spPr>
          <a:xfrm>
            <a:off x="641525" y="1860600"/>
            <a:ext cx="8199600" cy="53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https://surrealdb.com/blog/beginning-our-benchmarking-journey#details-of-this-benchmarking-run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6"/>
          <p:cNvSpPr txBox="1"/>
          <p:nvPr>
            <p:ph idx="2" type="subTitle"/>
          </p:nvPr>
        </p:nvSpPr>
        <p:spPr>
          <a:xfrm>
            <a:off x="1607975" y="2833200"/>
            <a:ext cx="5516400" cy="121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- Pojedyncze zapytania dla złożonych przejść relacji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- Naturalna składnia dla operacji grafowych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- Elastyczny model danych bez migracji schematów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- Lepsze niż MongoDB dla relacji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- Bardziej elastyczne niż Neo4j dla dokumentów</a:t>
            </a:r>
            <a:endParaRPr sz="1500"/>
          </a:p>
        </p:txBody>
      </p:sp>
      <p:cxnSp>
        <p:nvCxnSpPr>
          <p:cNvPr id="266" name="Google Shape;266;p36"/>
          <p:cNvCxnSpPr/>
          <p:nvPr/>
        </p:nvCxnSpPr>
        <p:spPr>
          <a:xfrm>
            <a:off x="1344575" y="2687800"/>
            <a:ext cx="77997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7" name="Google Shape;267;p36"/>
          <p:cNvSpPr txBox="1"/>
          <p:nvPr/>
        </p:nvSpPr>
        <p:spPr>
          <a:xfrm>
            <a:off x="1416550" y="62575"/>
            <a:ext cx="26748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400"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WNIOSKI</a:t>
            </a:r>
            <a:endParaRPr b="1" sz="2200"/>
          </a:p>
        </p:txBody>
      </p:sp>
      <p:sp>
        <p:nvSpPr>
          <p:cNvPr id="268" name="Google Shape;268;p36"/>
          <p:cNvSpPr txBox="1"/>
          <p:nvPr/>
        </p:nvSpPr>
        <p:spPr>
          <a:xfrm>
            <a:off x="1607975" y="982638"/>
            <a:ext cx="7048800" cy="14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Tradycyjne bazy danych mają problemy z elastycznym modelowaniem relacji dla systemów rekomendacji</a:t>
            </a:r>
            <a:endParaRPr b="1" sz="1700">
              <a:solidFill>
                <a:schemeClr val="lt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chemeClr val="lt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Hybrydowe podejście SurrealDB </a:t>
            </a:r>
            <a:r>
              <a:rPr lang="en" sz="1700"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(graf + dokument)</a:t>
            </a:r>
            <a:r>
              <a:rPr b="1" lang="en" sz="1700"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 umożliwia wydajne zapytania rekomendacyjne</a:t>
            </a:r>
            <a:endParaRPr b="1" sz="1700">
              <a:solidFill>
                <a:schemeClr val="lt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</p:txBody>
      </p:sp>
      <p:sp>
        <p:nvSpPr>
          <p:cNvPr id="269" name="Google Shape;269;p36"/>
          <p:cNvSpPr txBox="1"/>
          <p:nvPr/>
        </p:nvSpPr>
        <p:spPr>
          <a:xfrm>
            <a:off x="152400" y="152400"/>
            <a:ext cx="3000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7"/>
          <p:cNvSpPr txBox="1"/>
          <p:nvPr>
            <p:ph type="title"/>
          </p:nvPr>
        </p:nvSpPr>
        <p:spPr>
          <a:xfrm>
            <a:off x="1195175" y="854175"/>
            <a:ext cx="5356200" cy="203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7500"/>
              <a:t>DZIĘKUJEMY</a:t>
            </a:r>
            <a:br>
              <a:rPr lang="en" sz="7500"/>
            </a:br>
            <a:r>
              <a:rPr lang="en" sz="7500"/>
              <a:t>za uwage</a:t>
            </a:r>
            <a:endParaRPr b="0" sz="7500"/>
          </a:p>
        </p:txBody>
      </p:sp>
      <p:sp>
        <p:nvSpPr>
          <p:cNvPr id="275" name="Google Shape;275;p37"/>
          <p:cNvSpPr txBox="1"/>
          <p:nvPr>
            <p:ph idx="1" type="subTitle"/>
          </p:nvPr>
        </p:nvSpPr>
        <p:spPr>
          <a:xfrm>
            <a:off x="1269875" y="2890575"/>
            <a:ext cx="5068200" cy="141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Be Vietnam Pro"/>
                <a:ea typeface="Be Vietnam Pro"/>
                <a:cs typeface="Be Vietnam Pro"/>
                <a:sym typeface="Be Vietnam Pro"/>
              </a:rPr>
              <a:t>Pytania?</a:t>
            </a:r>
            <a:endParaRPr b="1">
              <a:latin typeface="Be Vietnam Pro"/>
              <a:ea typeface="Be Vietnam Pro"/>
              <a:cs typeface="Be Vietnam Pro"/>
              <a:sym typeface="Be Vietnam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Be Vietnam Pro"/>
              <a:ea typeface="Be Vietnam Pro"/>
              <a:cs typeface="Be Vietnam Pro"/>
              <a:sym typeface="Be Vietnam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Be Vietnam Pro"/>
              <a:ea typeface="Be Vietnam Pro"/>
              <a:cs typeface="Be Vietnam Pro"/>
              <a:sym typeface="Be Vietnam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Jakub Plewa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Bartosz Wajs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Oskar Wichtowski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WOT Analysis by Slidesgo">
  <a:themeElements>
    <a:clrScheme name="Simple Light">
      <a:dk1>
        <a:srgbClr val="FFFFFF"/>
      </a:dk1>
      <a:lt1>
        <a:srgbClr val="3D2222"/>
      </a:lt1>
      <a:dk2>
        <a:srgbClr val="FFFFFF"/>
      </a:dk2>
      <a:lt2>
        <a:srgbClr val="294240"/>
      </a:lt2>
      <a:accent1>
        <a:srgbClr val="CEC381"/>
      </a:accent1>
      <a:accent2>
        <a:srgbClr val="CC9292"/>
      </a:accent2>
      <a:accent3>
        <a:srgbClr val="4E7277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